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73" r:id="rId3"/>
    <p:sldId id="275" r:id="rId4"/>
    <p:sldId id="268" r:id="rId5"/>
    <p:sldId id="260" r:id="rId6"/>
    <p:sldId id="266" r:id="rId7"/>
    <p:sldId id="258" r:id="rId8"/>
    <p:sldId id="265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64" r:id="rId20"/>
    <p:sldId id="276" r:id="rId21"/>
    <p:sldId id="269" r:id="rId22"/>
    <p:sldId id="257" r:id="rId23"/>
    <p:sldId id="270" r:id="rId24"/>
    <p:sldId id="271" r:id="rId25"/>
    <p:sldId id="261" r:id="rId26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">
          <p15:clr>
            <a:srgbClr val="A4A3A4"/>
          </p15:clr>
        </p15:guide>
        <p15:guide id="2" pos="5511">
          <p15:clr>
            <a:srgbClr val="A4A3A4"/>
          </p15:clr>
        </p15:guide>
        <p15:guide id="3" pos="237">
          <p15:clr>
            <a:srgbClr val="A4A3A4"/>
          </p15:clr>
        </p15:guide>
        <p15:guide id="4" pos="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C894"/>
    <a:srgbClr val="07EBAF"/>
    <a:srgbClr val="D6F6EE"/>
    <a:srgbClr val="8EE6C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778" y="72"/>
      </p:cViewPr>
      <p:guideLst>
        <p:guide orient="horz" pos="214"/>
        <p:guide pos="5511"/>
        <p:guide pos="237"/>
        <p:guide pos="2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2C70-AD77-4EF1-866C-3E94E77604BF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3B89D-B7EC-45CC-9566-0DEB4857F7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06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3B89D-B7EC-45CC-9566-0DEB4857F79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978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561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21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91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40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30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11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06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691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53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19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36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DEB93-EF13-458E-B515-CE5855B4C441}" type="datetimeFigureOut">
              <a:rPr lang="ru-RU" smtClean="0"/>
              <a:t>11.12.2024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8088F-B178-4A81-80B7-92DD1A6BC4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116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4.sv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-2-2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12.png"/><Relationship Id="rId21" Type="http://schemas.openxmlformats.org/officeDocument/2006/relationships/image" Target="../media/image2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30.png"/><Relationship Id="rId10" Type="http://schemas.openxmlformats.org/officeDocument/2006/relationships/image" Target="../media/image18.png"/><Relationship Id="rId19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C8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101C02DC-0E3A-4FA8-A4D8-17599BE6026D}"/>
              </a:ext>
            </a:extLst>
          </p:cNvPr>
          <p:cNvSpPr txBox="1">
            <a:spLocks/>
          </p:cNvSpPr>
          <p:nvPr/>
        </p:nvSpPr>
        <p:spPr>
          <a:xfrm>
            <a:off x="251520" y="2283718"/>
            <a:ext cx="4320479" cy="1545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НАЗВАНИЕ</a:t>
            </a:r>
          </a:p>
          <a:p>
            <a:pPr algn="l"/>
            <a:r>
              <a:rPr lang="ru-RU" sz="2800" dirty="0" smtClean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ПРОЕКТА</a:t>
            </a:r>
            <a:endParaRPr lang="ru-RU" sz="280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DBF939BB-1081-4262-8F2C-6E4754789048}"/>
              </a:ext>
            </a:extLst>
          </p:cNvPr>
          <p:cNvCxnSpPr>
            <a:cxnSpLocks/>
          </p:cNvCxnSpPr>
          <p:nvPr/>
        </p:nvCxnSpPr>
        <p:spPr>
          <a:xfrm flipH="1">
            <a:off x="376593" y="3685315"/>
            <a:ext cx="3043279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A9BD39-F406-4C0F-8EF4-31AB65D7D23B}"/>
              </a:ext>
            </a:extLst>
          </p:cNvPr>
          <p:cNvSpPr txBox="1"/>
          <p:nvPr/>
        </p:nvSpPr>
        <p:spPr>
          <a:xfrm>
            <a:off x="290042" y="3808743"/>
            <a:ext cx="52886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 smtClean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ФИО автора</a:t>
            </a:r>
          </a:p>
          <a:p>
            <a:r>
              <a:rPr lang="ru-RU" sz="1050" dirty="0" smtClean="0"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Группа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360467" y="1923678"/>
            <a:ext cx="264802" cy="70346"/>
            <a:chOff x="533629" y="1995686"/>
            <a:chExt cx="264802" cy="70346"/>
          </a:xfrm>
        </p:grpSpPr>
        <p:sp>
          <p:nvSpPr>
            <p:cNvPr id="28" name="Овал 27">
              <a:extLst>
                <a:ext uri="{FF2B5EF4-FFF2-40B4-BE49-F238E27FC236}">
                  <a16:creationId xmlns:a16="http://schemas.microsoft.com/office/drawing/2014/main" id="{790E914C-788A-4D85-91B7-17BE7F5036D0}"/>
                </a:ext>
              </a:extLst>
            </p:cNvPr>
            <p:cNvSpPr/>
            <p:nvPr/>
          </p:nvSpPr>
          <p:spPr>
            <a:xfrm flipH="1">
              <a:off x="533629" y="1995686"/>
              <a:ext cx="70346" cy="7034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2F005D5F-501D-40B2-9E46-1428730FC023}"/>
                </a:ext>
              </a:extLst>
            </p:cNvPr>
            <p:cNvSpPr/>
            <p:nvPr/>
          </p:nvSpPr>
          <p:spPr>
            <a:xfrm flipH="1">
              <a:off x="630857" y="1995686"/>
              <a:ext cx="70346" cy="70346"/>
            </a:xfrm>
            <a:prstGeom prst="ellipse">
              <a:avLst/>
            </a:prstGeom>
            <a:solidFill>
              <a:srgbClr val="FFFFFF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8BD1C1D-79EF-4463-90F4-D553BB563E6F}"/>
                </a:ext>
              </a:extLst>
            </p:cNvPr>
            <p:cNvSpPr/>
            <p:nvPr/>
          </p:nvSpPr>
          <p:spPr>
            <a:xfrm flipH="1">
              <a:off x="728085" y="1995686"/>
              <a:ext cx="70346" cy="70346"/>
            </a:xfrm>
            <a:prstGeom prst="ellipse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62"/>
          <a:stretch/>
        </p:blipFill>
        <p:spPr bwMode="auto">
          <a:xfrm>
            <a:off x="3996185" y="3939902"/>
            <a:ext cx="4752528" cy="1203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299" y="0"/>
            <a:ext cx="3218701" cy="3014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500" y="2073024"/>
            <a:ext cx="952598" cy="94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5" descr="C:\Users\AABugaev\Desktop\Ашхен\логотипы\лого омгту\Логотип ОмГТУ неформальное написание (белый, рус).png">
            <a:extLst>
              <a:ext uri="{FF2B5EF4-FFF2-40B4-BE49-F238E27FC236}">
                <a16:creationId xmlns:a16="http://schemas.microsoft.com/office/drawing/2014/main" id="{29CA28F6-593E-4513-B738-6B9AD854B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82" y="375581"/>
            <a:ext cx="669110" cy="246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893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360086" y="1059582"/>
            <a:ext cx="390810" cy="99296"/>
            <a:chOff x="360001" y="1479321"/>
            <a:chExt cx="390810" cy="99296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341BFD35-85A7-4385-A828-38429CAE1CE0}"/>
                </a:ext>
              </a:extLst>
            </p:cNvPr>
            <p:cNvSpPr/>
            <p:nvPr/>
          </p:nvSpPr>
          <p:spPr>
            <a:xfrm>
              <a:off x="360001" y="1479321"/>
              <a:ext cx="99296" cy="99296"/>
            </a:xfrm>
            <a:prstGeom prst="ellipse">
              <a:avLst/>
            </a:prstGeom>
            <a:solidFill>
              <a:srgbClr val="06C8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2B1F1ABA-BA84-4318-A3CB-BB80541643B1}"/>
                </a:ext>
              </a:extLst>
            </p:cNvPr>
            <p:cNvSpPr/>
            <p:nvPr/>
          </p:nvSpPr>
          <p:spPr>
            <a:xfrm>
              <a:off x="505843" y="1479321"/>
              <a:ext cx="99296" cy="99296"/>
            </a:xfrm>
            <a:prstGeom prst="ellipse">
              <a:avLst/>
            </a:prstGeom>
            <a:solidFill>
              <a:srgbClr val="06C89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8C510AE3-0587-4D22-AF1A-62E3D0974E9E}"/>
                </a:ext>
              </a:extLst>
            </p:cNvPr>
            <p:cNvSpPr/>
            <p:nvPr/>
          </p:nvSpPr>
          <p:spPr>
            <a:xfrm>
              <a:off x="651515" y="1479321"/>
              <a:ext cx="99296" cy="99296"/>
            </a:xfrm>
            <a:prstGeom prst="ellipse">
              <a:avLst/>
            </a:prstGeom>
            <a:solidFill>
              <a:srgbClr val="07EBA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</p:grp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404337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ЗАГОЛОВОК СЛАЙДА</a:t>
            </a:r>
          </a:p>
        </p:txBody>
      </p:sp>
      <p:pic>
        <p:nvPicPr>
          <p:cNvPr id="26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327819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6A487D-1EC2-49D7-80EF-CC3AF05973D5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3D349D-E123-47E5-9A4B-031F2542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33204"/>
            <a:ext cx="4155804" cy="4324630"/>
          </a:xfrm>
          <a:prstGeom prst="rect">
            <a:avLst/>
          </a:prstGeom>
        </p:spPr>
      </p:pic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251520" y="1275606"/>
            <a:ext cx="5245596" cy="1186413"/>
          </a:xfrm>
          <a:prstGeom prst="rect">
            <a:avLst/>
          </a:prstGeom>
        </p:spPr>
      </p:pic>
      <p:sp>
        <p:nvSpPr>
          <p:cNvPr id="35" name="Text 1"/>
          <p:cNvSpPr/>
          <p:nvPr/>
        </p:nvSpPr>
        <p:spPr>
          <a:xfrm>
            <a:off x="306388" y="1419622"/>
            <a:ext cx="42656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ru-RU" b="1" dirty="0" smtClean="0">
                <a:solidFill>
                  <a:srgbClr val="06C895"/>
                </a:solidFill>
                <a:latin typeface="Aeroport Bold" pitchFamily="34" charset="0"/>
                <a:ea typeface="Aeroport Bold" pitchFamily="34" charset="-122"/>
                <a:cs typeface="Aeroport Bold" pitchFamily="34" charset="-120"/>
              </a:rPr>
              <a:t>НАЗВАНИЕ </a:t>
            </a:r>
            <a:r>
              <a:rPr lang="ru-RU" b="1" dirty="0" smtClean="0">
                <a:solidFill>
                  <a:srgbClr val="06C895"/>
                </a:solidFill>
                <a:latin typeface="Aeroport Bold" pitchFamily="34" charset="0"/>
                <a:ea typeface="Aeroport Bold" pitchFamily="34" charset="-122"/>
                <a:cs typeface="Aeroport Bold" pitchFamily="34" charset="-120"/>
              </a:rPr>
              <a:t>ПРОЕКТА</a:t>
            </a:r>
            <a:endParaRPr lang="en-US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1520" y="2571750"/>
            <a:ext cx="5245596" cy="893100"/>
          </a:xfrm>
          <a:prstGeom prst="rect">
            <a:avLst/>
          </a:prstGeom>
        </p:spPr>
      </p:pic>
      <p:sp>
        <p:nvSpPr>
          <p:cNvPr id="37" name="Text 8"/>
          <p:cNvSpPr/>
          <p:nvPr/>
        </p:nvSpPr>
        <p:spPr>
          <a:xfrm>
            <a:off x="360086" y="2632537"/>
            <a:ext cx="766649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31"/>
              </a:lnSpc>
              <a:buNone/>
            </a:pPr>
            <a:r>
              <a:rPr lang="ru-RU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Цель:</a:t>
            </a:r>
          </a:p>
          <a:p>
            <a:pPr marL="0" indent="0" algn="l">
              <a:lnSpc>
                <a:spcPts val="2031"/>
              </a:lnSpc>
              <a:buNone/>
            </a:pP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Здесь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можно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написать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текст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Здесь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можно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написать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endParaRPr lang="ru-RU" sz="1600" dirty="0" smtClean="0">
              <a:solidFill>
                <a:srgbClr val="000000"/>
              </a:solidFill>
              <a:latin typeface="Aeroport Regular" pitchFamily="34" charset="0"/>
              <a:ea typeface="Aeroport Regular" pitchFamily="34" charset="-122"/>
              <a:cs typeface="Aeroport Regular" pitchFamily="34" charset="-120"/>
            </a:endParaRPr>
          </a:p>
          <a:p>
            <a:pPr marL="0" indent="0" algn="l">
              <a:lnSpc>
                <a:spcPts val="2031"/>
              </a:lnSpc>
              <a:buNone/>
            </a:pP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текст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Здесь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можно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написать</a:t>
            </a:r>
            <a:r>
              <a:rPr lang="en-US" sz="1600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текст</a:t>
            </a:r>
            <a:endParaRPr lang="en-US" sz="160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244639" y="3885379"/>
            <a:ext cx="1951097" cy="972264"/>
          </a:xfrm>
          <a:prstGeom prst="rect">
            <a:avLst/>
          </a:prstGeom>
        </p:spPr>
      </p:pic>
      <p:sp>
        <p:nvSpPr>
          <p:cNvPr id="39" name="Text 2"/>
          <p:cNvSpPr/>
          <p:nvPr/>
        </p:nvSpPr>
        <p:spPr>
          <a:xfrm>
            <a:off x="595766" y="4371511"/>
            <a:ext cx="1452332" cy="33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6"/>
              </a:lnSpc>
              <a:buNone/>
            </a:pPr>
            <a:r>
              <a:rPr lang="ru-RU" sz="1956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ЗАДАЧИ</a:t>
            </a:r>
            <a:endParaRPr lang="en-US" sz="1956" dirty="0"/>
          </a:p>
        </p:txBody>
      </p:sp>
      <p:sp>
        <p:nvSpPr>
          <p:cNvPr id="40" name="Text 3"/>
          <p:cNvSpPr/>
          <p:nvPr/>
        </p:nvSpPr>
        <p:spPr>
          <a:xfrm>
            <a:off x="606590" y="4014906"/>
            <a:ext cx="143268" cy="1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5"/>
              </a:lnSpc>
              <a:buNone/>
            </a:pPr>
            <a:r>
              <a:rPr lang="ru-RU" sz="2311" b="1" dirty="0" smtClean="0">
                <a:solidFill>
                  <a:srgbClr val="06C895"/>
                </a:solidFill>
                <a:latin typeface="Aeroport Bold" pitchFamily="34" charset="0"/>
                <a:ea typeface="Aeroport Bold" pitchFamily="34" charset="-122"/>
                <a:cs typeface="Aeroport Bold" pitchFamily="34" charset="-120"/>
              </a:rPr>
              <a:t>1</a:t>
            </a:r>
            <a:endParaRPr lang="en-US" sz="2311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2427621" y="3885379"/>
            <a:ext cx="1951097" cy="972264"/>
          </a:xfrm>
          <a:prstGeom prst="rect">
            <a:avLst/>
          </a:prstGeom>
        </p:spPr>
      </p:pic>
      <p:sp>
        <p:nvSpPr>
          <p:cNvPr id="42" name="Text 2"/>
          <p:cNvSpPr/>
          <p:nvPr/>
        </p:nvSpPr>
        <p:spPr>
          <a:xfrm>
            <a:off x="2778748" y="4371511"/>
            <a:ext cx="1452332" cy="33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6"/>
              </a:lnSpc>
              <a:buNone/>
            </a:pPr>
            <a:r>
              <a:rPr lang="ru-RU" sz="1956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ЗАДАЧИ</a:t>
            </a:r>
            <a:endParaRPr lang="en-US" sz="1956" dirty="0"/>
          </a:p>
        </p:txBody>
      </p:sp>
      <p:sp>
        <p:nvSpPr>
          <p:cNvPr id="43" name="Text 3"/>
          <p:cNvSpPr/>
          <p:nvPr/>
        </p:nvSpPr>
        <p:spPr>
          <a:xfrm>
            <a:off x="2789572" y="4014906"/>
            <a:ext cx="143268" cy="1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5"/>
              </a:lnSpc>
              <a:buNone/>
            </a:pPr>
            <a:r>
              <a:rPr lang="ru-RU" sz="2311" b="1" dirty="0" smtClean="0">
                <a:solidFill>
                  <a:srgbClr val="06C895"/>
                </a:solidFill>
                <a:latin typeface="Aeroport Bold" pitchFamily="34" charset="0"/>
                <a:ea typeface="Aeroport Bold" pitchFamily="34" charset="-122"/>
                <a:cs typeface="Aeroport Bold" pitchFamily="34" charset="-120"/>
              </a:rPr>
              <a:t>2</a:t>
            </a:r>
            <a:endParaRPr lang="en-US" sz="2311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rcRect/>
          <a:stretch/>
        </p:blipFill>
        <p:spPr>
          <a:xfrm>
            <a:off x="4521567" y="3903764"/>
            <a:ext cx="1951097" cy="972264"/>
          </a:xfrm>
          <a:prstGeom prst="rect">
            <a:avLst/>
          </a:prstGeom>
        </p:spPr>
      </p:pic>
      <p:sp>
        <p:nvSpPr>
          <p:cNvPr id="45" name="Text 2"/>
          <p:cNvSpPr/>
          <p:nvPr/>
        </p:nvSpPr>
        <p:spPr>
          <a:xfrm>
            <a:off x="4872694" y="4346630"/>
            <a:ext cx="1452332" cy="33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6"/>
              </a:lnSpc>
              <a:buNone/>
            </a:pPr>
            <a:r>
              <a:rPr lang="ru-RU" sz="1956" dirty="0" smtClean="0">
                <a:solidFill>
                  <a:srgbClr val="000000"/>
                </a:solidFill>
                <a:latin typeface="Aeroport Regular" pitchFamily="34" charset="0"/>
                <a:ea typeface="Aeroport Regular" pitchFamily="34" charset="-122"/>
                <a:cs typeface="Aeroport Regular" pitchFamily="34" charset="-120"/>
              </a:rPr>
              <a:t>ЗАДАЧИ</a:t>
            </a:r>
            <a:endParaRPr lang="en-US" sz="1956" dirty="0"/>
          </a:p>
        </p:txBody>
      </p:sp>
      <p:sp>
        <p:nvSpPr>
          <p:cNvPr id="46" name="Text 3"/>
          <p:cNvSpPr/>
          <p:nvPr/>
        </p:nvSpPr>
        <p:spPr>
          <a:xfrm>
            <a:off x="4883518" y="3994803"/>
            <a:ext cx="143268" cy="1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5"/>
              </a:lnSpc>
              <a:buNone/>
            </a:pPr>
            <a:r>
              <a:rPr lang="ru-RU" sz="2311" b="1" dirty="0" smtClean="0">
                <a:solidFill>
                  <a:srgbClr val="06C895"/>
                </a:solidFill>
                <a:latin typeface="Aeroport Bold" pitchFamily="34" charset="0"/>
                <a:ea typeface="Aeroport Bold" pitchFamily="34" charset="-122"/>
                <a:cs typeface="Aeroport Bold" pitchFamily="34" charset="-120"/>
              </a:rPr>
              <a:t>3</a:t>
            </a:r>
            <a:endParaRPr lang="en-US" sz="2311" dirty="0"/>
          </a:p>
        </p:txBody>
      </p:sp>
    </p:spTree>
    <p:extLst>
      <p:ext uri="{BB962C8B-B14F-4D97-AF65-F5344CB8AC3E}">
        <p14:creationId xmlns:p14="http://schemas.microsoft.com/office/powerpoint/2010/main" val="104752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6834EF-693A-4343-916C-2DAEC3E27C1B}"/>
              </a:ext>
            </a:extLst>
          </p:cNvPr>
          <p:cNvSpPr/>
          <p:nvPr/>
        </p:nvSpPr>
        <p:spPr>
          <a:xfrm>
            <a:off x="0" y="4443958"/>
            <a:ext cx="9144000" cy="6995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50D46C-2930-482B-A63C-8A1ED22C361B}"/>
              </a:ext>
            </a:extLst>
          </p:cNvPr>
          <p:cNvSpPr txBox="1"/>
          <p:nvPr/>
        </p:nvSpPr>
        <p:spPr>
          <a:xfrm>
            <a:off x="281305" y="1706128"/>
            <a:ext cx="8503126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360001" y="1479321"/>
            <a:ext cx="390810" cy="99296"/>
            <a:chOff x="360001" y="1479321"/>
            <a:chExt cx="390810" cy="99296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341BFD35-85A7-4385-A828-38429CAE1CE0}"/>
                </a:ext>
              </a:extLst>
            </p:cNvPr>
            <p:cNvSpPr/>
            <p:nvPr/>
          </p:nvSpPr>
          <p:spPr>
            <a:xfrm>
              <a:off x="360001" y="1479321"/>
              <a:ext cx="99296" cy="99296"/>
            </a:xfrm>
            <a:prstGeom prst="ellipse">
              <a:avLst/>
            </a:prstGeom>
            <a:solidFill>
              <a:srgbClr val="06C8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2B1F1ABA-BA84-4318-A3CB-BB80541643B1}"/>
                </a:ext>
              </a:extLst>
            </p:cNvPr>
            <p:cNvSpPr/>
            <p:nvPr/>
          </p:nvSpPr>
          <p:spPr>
            <a:xfrm>
              <a:off x="505843" y="1479321"/>
              <a:ext cx="99296" cy="99296"/>
            </a:xfrm>
            <a:prstGeom prst="ellipse">
              <a:avLst/>
            </a:prstGeom>
            <a:solidFill>
              <a:srgbClr val="06C89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C510AE3-0587-4D22-AF1A-62E3D0974E9E}"/>
                </a:ext>
              </a:extLst>
            </p:cNvPr>
            <p:cNvSpPr/>
            <p:nvPr/>
          </p:nvSpPr>
          <p:spPr>
            <a:xfrm>
              <a:off x="651515" y="1479321"/>
              <a:ext cx="99296" cy="99296"/>
            </a:xfrm>
            <a:prstGeom prst="ellipse">
              <a:avLst/>
            </a:prstGeom>
            <a:solidFill>
              <a:srgbClr val="07EBA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</p:grp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6408712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ПРОБЛЕМА </a:t>
            </a:r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описание проблем(ы), решению которой (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ых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 посвящен проект)</a:t>
            </a:r>
          </a:p>
        </p:txBody>
      </p:sp>
      <p:pic>
        <p:nvPicPr>
          <p:cNvPr id="23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4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147991-92FA-452D-A506-B35EEAC52EDB}"/>
              </a:ext>
            </a:extLst>
          </p:cNvPr>
          <p:cNvSpPr/>
          <p:nvPr/>
        </p:nvSpPr>
        <p:spPr>
          <a:xfrm>
            <a:off x="5976000" y="0"/>
            <a:ext cx="3168000" cy="51435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7EDFFE-9D96-4BE4-9868-B0AC767199F3}"/>
              </a:ext>
            </a:extLst>
          </p:cNvPr>
          <p:cNvSpPr txBox="1"/>
          <p:nvPr/>
        </p:nvSpPr>
        <p:spPr>
          <a:xfrm>
            <a:off x="281305" y="1706129"/>
            <a:ext cx="4068206" cy="173124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 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360001" y="1479321"/>
            <a:ext cx="390810" cy="99296"/>
            <a:chOff x="360001" y="1479321"/>
            <a:chExt cx="390810" cy="9929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341BFD35-85A7-4385-A828-38429CAE1CE0}"/>
                </a:ext>
              </a:extLst>
            </p:cNvPr>
            <p:cNvSpPr/>
            <p:nvPr/>
          </p:nvSpPr>
          <p:spPr>
            <a:xfrm>
              <a:off x="360001" y="1479321"/>
              <a:ext cx="99296" cy="99296"/>
            </a:xfrm>
            <a:prstGeom prst="ellipse">
              <a:avLst/>
            </a:prstGeom>
            <a:solidFill>
              <a:srgbClr val="06C8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2B1F1ABA-BA84-4318-A3CB-BB80541643B1}"/>
                </a:ext>
              </a:extLst>
            </p:cNvPr>
            <p:cNvSpPr/>
            <p:nvPr/>
          </p:nvSpPr>
          <p:spPr>
            <a:xfrm>
              <a:off x="505843" y="1479321"/>
              <a:ext cx="99296" cy="99296"/>
            </a:xfrm>
            <a:prstGeom prst="ellipse">
              <a:avLst/>
            </a:prstGeom>
            <a:solidFill>
              <a:srgbClr val="06C89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8C510AE3-0587-4D22-AF1A-62E3D0974E9E}"/>
                </a:ext>
              </a:extLst>
            </p:cNvPr>
            <p:cNvSpPr/>
            <p:nvPr/>
          </p:nvSpPr>
          <p:spPr>
            <a:xfrm>
              <a:off x="651515" y="1479321"/>
              <a:ext cx="99296" cy="99296"/>
            </a:xfrm>
            <a:prstGeom prst="ellipse">
              <a:avLst/>
            </a:prstGeom>
            <a:solidFill>
              <a:srgbClr val="07EBA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404337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ГИПОТЕЗА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327819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5652120" y="980636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6841490" y="1320243"/>
            <a:ext cx="133091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МЕСТО </a:t>
            </a:r>
          </a:p>
          <a:p>
            <a:endParaRPr lang="ru-RU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</a:p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ФОТО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016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9DBCCDA-71D7-44CE-A72D-2A2FB18E298C}"/>
              </a:ext>
            </a:extLst>
          </p:cNvPr>
          <p:cNvSpPr txBox="1"/>
          <p:nvPr/>
        </p:nvSpPr>
        <p:spPr>
          <a:xfrm>
            <a:off x="306000" y="1073673"/>
            <a:ext cx="8171147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Расположите в редактируемой области основной текст слайда. Расположите в редактируемой области основной текст слайда. Расположите в редактируемой области основной текст слайда.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48C25A-D2AF-4123-AAF6-7AA8A7B9434A}"/>
              </a:ext>
            </a:extLst>
          </p:cNvPr>
          <p:cNvSpPr txBox="1"/>
          <p:nvPr/>
        </p:nvSpPr>
        <p:spPr>
          <a:xfrm>
            <a:off x="305999" y="1626864"/>
            <a:ext cx="1601705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 smtClean="0">
                <a:solidFill>
                  <a:srgbClr val="464646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Этапы проекта</a:t>
            </a:r>
            <a:endParaRPr lang="ru-RU" sz="1200" dirty="0">
              <a:solidFill>
                <a:srgbClr val="464646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14" name="Таблица 7">
            <a:extLst>
              <a:ext uri="{FF2B5EF4-FFF2-40B4-BE49-F238E27FC236}">
                <a16:creationId xmlns:a16="http://schemas.microsoft.com/office/drawing/2014/main" id="{B818344F-CC1F-47D8-A009-A074947BA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776485"/>
              </p:ext>
            </p:extLst>
          </p:nvPr>
        </p:nvGraphicFramePr>
        <p:xfrm>
          <a:off x="359569" y="1995392"/>
          <a:ext cx="8117580" cy="256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758">
                  <a:extLst>
                    <a:ext uri="{9D8B030D-6E8A-4147-A177-3AD203B41FA5}">
                      <a16:colId xmlns:a16="http://schemas.microsoft.com/office/drawing/2014/main" val="3112323235"/>
                    </a:ext>
                  </a:extLst>
                </a:gridCol>
                <a:gridCol w="7305822">
                  <a:extLst>
                    <a:ext uri="{9D8B030D-6E8A-4147-A177-3AD203B41FA5}">
                      <a16:colId xmlns:a16="http://schemas.microsoft.com/office/drawing/2014/main" val="217008305"/>
                    </a:ext>
                  </a:extLst>
                </a:gridCol>
              </a:tblGrid>
              <a:tr h="298038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D4A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D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942418"/>
                  </a:ext>
                </a:extLst>
              </a:tr>
              <a:tr h="347078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13518"/>
                  </a:ext>
                </a:extLst>
              </a:tr>
              <a:tr h="363242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874964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956602"/>
                  </a:ext>
                </a:extLst>
              </a:tr>
              <a:tr h="392126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343783"/>
                  </a:ext>
                </a:extLst>
              </a:tr>
              <a:tr h="392126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126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ОПИСАНИЕ ПРОЕКТА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30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ЦЕЛЕВАЯ АУДИТОРИЯ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Прямоугольник: скругленные углы 12">
            <a:extLst>
              <a:ext uri="{FF2B5EF4-FFF2-40B4-BE49-F238E27FC236}">
                <a16:creationId xmlns:a16="http://schemas.microsoft.com/office/drawing/2014/main" id="{719F98DE-5B4D-4D9B-A167-A2892D8D42F8}"/>
              </a:ext>
            </a:extLst>
          </p:cNvPr>
          <p:cNvSpPr/>
          <p:nvPr/>
        </p:nvSpPr>
        <p:spPr>
          <a:xfrm>
            <a:off x="4808471" y="1131590"/>
            <a:ext cx="2808685" cy="3438159"/>
          </a:xfrm>
          <a:prstGeom prst="roundRect">
            <a:avLst>
              <a:gd name="adj" fmla="val 30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: скругленные верхние углы 14">
            <a:extLst>
              <a:ext uri="{FF2B5EF4-FFF2-40B4-BE49-F238E27FC236}">
                <a16:creationId xmlns:a16="http://schemas.microsoft.com/office/drawing/2014/main" id="{F2A25471-F6F6-42BC-AE07-9176B8C33485}"/>
              </a:ext>
            </a:extLst>
          </p:cNvPr>
          <p:cNvSpPr/>
          <p:nvPr/>
        </p:nvSpPr>
        <p:spPr>
          <a:xfrm rot="10800000">
            <a:off x="4807786" y="4191750"/>
            <a:ext cx="2808000" cy="378000"/>
          </a:xfrm>
          <a:prstGeom prst="round2SameRect">
            <a:avLst>
              <a:gd name="adj1" fmla="val 25486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DA0F02-C6AB-462F-A474-9FC3342BC4C0}"/>
              </a:ext>
            </a:extLst>
          </p:cNvPr>
          <p:cNvSpPr txBox="1"/>
          <p:nvPr/>
        </p:nvSpPr>
        <p:spPr>
          <a:xfrm>
            <a:off x="5514560" y="4258127"/>
            <a:ext cx="1937760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</a:t>
            </a:r>
            <a:r>
              <a:rPr lang="ru-RU" sz="9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 + ФОТО</a:t>
            </a:r>
            <a:endParaRPr lang="ru-RU" sz="9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12">
            <a:extLst>
              <a:ext uri="{FF2B5EF4-FFF2-40B4-BE49-F238E27FC236}">
                <a16:creationId xmlns:a16="http://schemas.microsoft.com/office/drawing/2014/main" id="{719F98DE-5B4D-4D9B-A167-A2892D8D42F8}"/>
              </a:ext>
            </a:extLst>
          </p:cNvPr>
          <p:cNvSpPr/>
          <p:nvPr/>
        </p:nvSpPr>
        <p:spPr>
          <a:xfrm>
            <a:off x="1527529" y="1131590"/>
            <a:ext cx="2808685" cy="3438159"/>
          </a:xfrm>
          <a:prstGeom prst="roundRect">
            <a:avLst>
              <a:gd name="adj" fmla="val 30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: скругленные верхние углы 14">
            <a:extLst>
              <a:ext uri="{FF2B5EF4-FFF2-40B4-BE49-F238E27FC236}">
                <a16:creationId xmlns:a16="http://schemas.microsoft.com/office/drawing/2014/main" id="{F2A25471-F6F6-42BC-AE07-9176B8C33485}"/>
              </a:ext>
            </a:extLst>
          </p:cNvPr>
          <p:cNvSpPr/>
          <p:nvPr/>
        </p:nvSpPr>
        <p:spPr>
          <a:xfrm rot="10800000">
            <a:off x="1526844" y="4191750"/>
            <a:ext cx="2808000" cy="378000"/>
          </a:xfrm>
          <a:prstGeom prst="round2SameRect">
            <a:avLst>
              <a:gd name="adj1" fmla="val 25486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pic>
        <p:nvPicPr>
          <p:cNvPr id="13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DA0F02-C6AB-462F-A474-9FC3342BC4C0}"/>
              </a:ext>
            </a:extLst>
          </p:cNvPr>
          <p:cNvSpPr txBox="1"/>
          <p:nvPr/>
        </p:nvSpPr>
        <p:spPr>
          <a:xfrm>
            <a:off x="2051720" y="4306652"/>
            <a:ext cx="1937760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</a:t>
            </a:r>
            <a:r>
              <a:rPr lang="ru-RU" sz="9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текст + ФОТО</a:t>
            </a:r>
            <a:endParaRPr lang="ru-RU" sz="9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47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АНАЛИЗ АНАЛОГОВ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19F98DE-5B4D-4D9B-A167-A2892D8D42F8}"/>
              </a:ext>
            </a:extLst>
          </p:cNvPr>
          <p:cNvSpPr/>
          <p:nvPr/>
        </p:nvSpPr>
        <p:spPr>
          <a:xfrm>
            <a:off x="5578742" y="1131590"/>
            <a:ext cx="2808685" cy="3438159"/>
          </a:xfrm>
          <a:prstGeom prst="roundRect">
            <a:avLst>
              <a:gd name="adj" fmla="val 30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верхние углы 14">
            <a:extLst>
              <a:ext uri="{FF2B5EF4-FFF2-40B4-BE49-F238E27FC236}">
                <a16:creationId xmlns:a16="http://schemas.microsoft.com/office/drawing/2014/main" id="{F2A25471-F6F6-42BC-AE07-9176B8C33485}"/>
              </a:ext>
            </a:extLst>
          </p:cNvPr>
          <p:cNvSpPr/>
          <p:nvPr/>
        </p:nvSpPr>
        <p:spPr>
          <a:xfrm rot="10800000">
            <a:off x="5578057" y="4191750"/>
            <a:ext cx="2808000" cy="378000"/>
          </a:xfrm>
          <a:prstGeom prst="round2SameRect">
            <a:avLst>
              <a:gd name="adj1" fmla="val 25486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A0F02-C6AB-462F-A474-9FC3342BC4C0}"/>
              </a:ext>
            </a:extLst>
          </p:cNvPr>
          <p:cNvSpPr txBox="1"/>
          <p:nvPr/>
        </p:nvSpPr>
        <p:spPr>
          <a:xfrm>
            <a:off x="6284832" y="4258127"/>
            <a:ext cx="1394450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pic>
        <p:nvPicPr>
          <p:cNvPr id="2050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DE1C43-FA04-43A8-A5AA-BA2155DC32B6}"/>
              </a:ext>
            </a:extLst>
          </p:cNvPr>
          <p:cNvSpPr txBox="1"/>
          <p:nvPr/>
        </p:nvSpPr>
        <p:spPr>
          <a:xfrm>
            <a:off x="520359" y="1347614"/>
            <a:ext cx="46277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Расположите в редактируемой области основной текст слайда. 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Расположите в редактируемой области основной текст слайда. 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слайда. </a:t>
            </a:r>
          </a:p>
        </p:txBody>
      </p:sp>
      <p:sp>
        <p:nvSpPr>
          <p:cNvPr id="21" name="Прямоугольник: скругленные углы 14">
            <a:extLst>
              <a:ext uri="{FF2B5EF4-FFF2-40B4-BE49-F238E27FC236}">
                <a16:creationId xmlns:a16="http://schemas.microsoft.com/office/drawing/2014/main" id="{89AFA2B1-6450-4E2B-B1A0-AF50FFBF2852}"/>
              </a:ext>
            </a:extLst>
          </p:cNvPr>
          <p:cNvSpPr/>
          <p:nvPr/>
        </p:nvSpPr>
        <p:spPr>
          <a:xfrm>
            <a:off x="375785" y="1131591"/>
            <a:ext cx="4916296" cy="3438160"/>
          </a:xfrm>
          <a:prstGeom prst="roundRect">
            <a:avLst>
              <a:gd name="adj" fmla="val 3050"/>
            </a:avLst>
          </a:prstGeom>
          <a:noFill/>
          <a:ln w="12700">
            <a:solidFill>
              <a:srgbClr val="06C8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rgbClr val="06C894"/>
              </a:solidFill>
            </a:endParaRPr>
          </a:p>
        </p:txBody>
      </p:sp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7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ОСНОВНЫЕ ПОЛЬЗОВАТЕЛЬСКИЕ ФУНКЦИИ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78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ИНФОРМАЦИОННАЯ АРХИТЕКТУРА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64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НИЗКОДЕТАЛИЗИРОВАННЫЕ МАКЕТЫ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25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РЕЗУЛЬТАТЫ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-ТЕСТИРОВАНИЯ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64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ДИЗАЙН-КОНЦЕПЦИЯ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167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ЦВЕТОВОЕ ОФОРМЛЕНИЕ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34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ШРИФТЫ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34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ВЫСОКОДЕТАЛИЗИРОВАННЫЕ МАКЕТЫ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705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РЕЗУЛЬТАТЫ ЮЗАБИЛИТИ-ТЕСТИРОВАНИЯ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930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ПРАВКИ ПОСЛЕ ТЕСТИРОВАНИЯ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08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1F4565ED-F13B-45A3-AC18-D1B47EBE8275}"/>
              </a:ext>
            </a:extLst>
          </p:cNvPr>
          <p:cNvSpPr/>
          <p:nvPr/>
        </p:nvSpPr>
        <p:spPr>
          <a:xfrm>
            <a:off x="359569" y="1413624"/>
            <a:ext cx="8117578" cy="2566778"/>
          </a:xfrm>
          <a:prstGeom prst="roundRect">
            <a:avLst>
              <a:gd name="adj" fmla="val 1800"/>
            </a:avLst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b="1" dirty="0"/>
          </a:p>
        </p:txBody>
      </p:sp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B1D77217-CAD1-4C85-BE76-8BDB96942C08}"/>
              </a:ext>
            </a:extLst>
          </p:cNvPr>
          <p:cNvSpPr/>
          <p:nvPr/>
        </p:nvSpPr>
        <p:spPr>
          <a:xfrm flipV="1">
            <a:off x="359569" y="3784962"/>
            <a:ext cx="8117578" cy="526147"/>
          </a:xfrm>
          <a:prstGeom prst="round2SameRect">
            <a:avLst>
              <a:gd name="adj1" fmla="val 8521"/>
              <a:gd name="adj2" fmla="val 0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D1F34FF9-9983-4B12-A7BB-AD64A878F09F}"/>
              </a:ext>
            </a:extLst>
          </p:cNvPr>
          <p:cNvSpPr/>
          <p:nvPr/>
        </p:nvSpPr>
        <p:spPr>
          <a:xfrm rot="16200000" flipV="1">
            <a:off x="5397500" y="1231461"/>
            <a:ext cx="526146" cy="5633147"/>
          </a:xfrm>
          <a:custGeom>
            <a:avLst/>
            <a:gdLst>
              <a:gd name="connsiteX0" fmla="*/ 57399 w 701528"/>
              <a:gd name="connsiteY0" fmla="*/ 0 h 7510862"/>
              <a:gd name="connsiteX1" fmla="*/ 644129 w 701528"/>
              <a:gd name="connsiteY1" fmla="*/ 0 h 7510862"/>
              <a:gd name="connsiteX2" fmla="*/ 701528 w 701528"/>
              <a:gd name="connsiteY2" fmla="*/ 57399 h 7510862"/>
              <a:gd name="connsiteX3" fmla="*/ 701528 w 701528"/>
              <a:gd name="connsiteY3" fmla="*/ 7510862 h 7510862"/>
              <a:gd name="connsiteX4" fmla="*/ 701528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7510862 h 7510862"/>
              <a:gd name="connsiteX7" fmla="*/ 0 w 701528"/>
              <a:gd name="connsiteY7" fmla="*/ 57399 h 7510862"/>
              <a:gd name="connsiteX8" fmla="*/ 57399 w 701528"/>
              <a:gd name="connsiteY8" fmla="*/ 0 h 7510862"/>
              <a:gd name="connsiteX0" fmla="*/ 57399 w 701528"/>
              <a:gd name="connsiteY0" fmla="*/ 0 h 7510862"/>
              <a:gd name="connsiteX1" fmla="*/ 701528 w 701528"/>
              <a:gd name="connsiteY1" fmla="*/ 5739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  <a:gd name="connsiteX0" fmla="*/ 57399 w 701528"/>
              <a:gd name="connsiteY0" fmla="*/ 2132 h 7512994"/>
              <a:gd name="connsiteX1" fmla="*/ 701528 w 701528"/>
              <a:gd name="connsiteY1" fmla="*/ 0 h 7512994"/>
              <a:gd name="connsiteX2" fmla="*/ 701528 w 701528"/>
              <a:gd name="connsiteY2" fmla="*/ 7512994 h 7512994"/>
              <a:gd name="connsiteX3" fmla="*/ 701528 w 701528"/>
              <a:gd name="connsiteY3" fmla="*/ 7512994 h 7512994"/>
              <a:gd name="connsiteX4" fmla="*/ 0 w 701528"/>
              <a:gd name="connsiteY4" fmla="*/ 7512994 h 7512994"/>
              <a:gd name="connsiteX5" fmla="*/ 0 w 701528"/>
              <a:gd name="connsiteY5" fmla="*/ 7512994 h 7512994"/>
              <a:gd name="connsiteX6" fmla="*/ 0 w 701528"/>
              <a:gd name="connsiteY6" fmla="*/ 59531 h 7512994"/>
              <a:gd name="connsiteX7" fmla="*/ 57399 w 701528"/>
              <a:gd name="connsiteY7" fmla="*/ 2132 h 7512994"/>
              <a:gd name="connsiteX0" fmla="*/ 57399 w 701528"/>
              <a:gd name="connsiteY0" fmla="*/ 0 h 7510862"/>
              <a:gd name="connsiteX1" fmla="*/ 701528 w 701528"/>
              <a:gd name="connsiteY1" fmla="*/ 249 h 7510862"/>
              <a:gd name="connsiteX2" fmla="*/ 701528 w 701528"/>
              <a:gd name="connsiteY2" fmla="*/ 7510862 h 7510862"/>
              <a:gd name="connsiteX3" fmla="*/ 701528 w 701528"/>
              <a:gd name="connsiteY3" fmla="*/ 7510862 h 7510862"/>
              <a:gd name="connsiteX4" fmla="*/ 0 w 701528"/>
              <a:gd name="connsiteY4" fmla="*/ 7510862 h 7510862"/>
              <a:gd name="connsiteX5" fmla="*/ 0 w 701528"/>
              <a:gd name="connsiteY5" fmla="*/ 7510862 h 7510862"/>
              <a:gd name="connsiteX6" fmla="*/ 0 w 701528"/>
              <a:gd name="connsiteY6" fmla="*/ 57399 h 7510862"/>
              <a:gd name="connsiteX7" fmla="*/ 57399 w 701528"/>
              <a:gd name="connsiteY7" fmla="*/ 0 h 751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528" h="7510862">
                <a:moveTo>
                  <a:pt x="57399" y="0"/>
                </a:moveTo>
                <a:lnTo>
                  <a:pt x="701528" y="249"/>
                </a:lnTo>
                <a:lnTo>
                  <a:pt x="701528" y="7510862"/>
                </a:lnTo>
                <a:lnTo>
                  <a:pt x="701528" y="7510862"/>
                </a:lnTo>
                <a:lnTo>
                  <a:pt x="0" y="7510862"/>
                </a:lnTo>
                <a:lnTo>
                  <a:pt x="0" y="7510862"/>
                </a:lnTo>
                <a:lnTo>
                  <a:pt x="0" y="57399"/>
                </a:lnTo>
                <a:cubicBezTo>
                  <a:pt x="0" y="25698"/>
                  <a:pt x="25698" y="0"/>
                  <a:pt x="573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6A6F5-F416-45F4-B0E0-DAB61BD2444F}"/>
              </a:ext>
            </a:extLst>
          </p:cNvPr>
          <p:cNvSpPr txBox="1"/>
          <p:nvPr/>
        </p:nvSpPr>
        <p:spPr>
          <a:xfrm>
            <a:off x="3978000" y="3938005"/>
            <a:ext cx="4097005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Расположите в редактируемой области основной текст слайда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64E8BA-DC8A-4E95-820F-08B489F87270}"/>
              </a:ext>
            </a:extLst>
          </p:cNvPr>
          <p:cNvSpPr txBox="1"/>
          <p:nvPr/>
        </p:nvSpPr>
        <p:spPr>
          <a:xfrm>
            <a:off x="877503" y="3938005"/>
            <a:ext cx="142542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9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Расположите текст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4896544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ВИДЕО-ОБЗОР ПРОТОТИПА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017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rgbClr val="6A6A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 </a:t>
            </a:r>
            <a:endParaRPr lang="ru-RU" sz="1400" dirty="0">
              <a:solidFill>
                <a:srgbClr val="6A6A6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19F98DE-5B4D-4D9B-A167-A2892D8D42F8}"/>
              </a:ext>
            </a:extLst>
          </p:cNvPr>
          <p:cNvSpPr/>
          <p:nvPr/>
        </p:nvSpPr>
        <p:spPr>
          <a:xfrm>
            <a:off x="5578742" y="1131591"/>
            <a:ext cx="2808685" cy="3438159"/>
          </a:xfrm>
          <a:prstGeom prst="roundRect">
            <a:avLst>
              <a:gd name="adj" fmla="val 301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pic>
        <p:nvPicPr>
          <p:cNvPr id="2050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Прямоугольник: скругленные углы 14">
            <a:extLst>
              <a:ext uri="{FF2B5EF4-FFF2-40B4-BE49-F238E27FC236}">
                <a16:creationId xmlns:a16="http://schemas.microsoft.com/office/drawing/2014/main" id="{89AFA2B1-6450-4E2B-B1A0-AF50FFBF2852}"/>
              </a:ext>
            </a:extLst>
          </p:cNvPr>
          <p:cNvSpPr/>
          <p:nvPr/>
        </p:nvSpPr>
        <p:spPr>
          <a:xfrm>
            <a:off x="375785" y="1131591"/>
            <a:ext cx="4916296" cy="1080119"/>
          </a:xfrm>
          <a:prstGeom prst="roundRect">
            <a:avLst>
              <a:gd name="adj" fmla="val 7232"/>
            </a:avLst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rgbClr val="06C89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DE1C43-FA04-43A8-A5AA-BA2155DC32B6}"/>
              </a:ext>
            </a:extLst>
          </p:cNvPr>
          <p:cNvSpPr txBox="1"/>
          <p:nvPr/>
        </p:nvSpPr>
        <p:spPr>
          <a:xfrm>
            <a:off x="520359" y="1347614"/>
            <a:ext cx="4627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ИТОГОВЫЙ ПРОДУКТ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Группа 18"/>
          <p:cNvGrpSpPr/>
          <p:nvPr/>
        </p:nvGrpSpPr>
        <p:grpSpPr>
          <a:xfrm>
            <a:off x="358943" y="3993685"/>
            <a:ext cx="1396031" cy="576064"/>
            <a:chOff x="8038176" y="1355536"/>
            <a:chExt cx="1396031" cy="576064"/>
          </a:xfrm>
        </p:grpSpPr>
        <p:sp>
          <p:nvSpPr>
            <p:cNvPr id="22" name="Прямоугольник: скругленные углы 14">
              <a:extLst>
                <a:ext uri="{FF2B5EF4-FFF2-40B4-BE49-F238E27FC236}">
                  <a16:creationId xmlns:a16="http://schemas.microsoft.com/office/drawing/2014/main" id="{0BE30F48-53FE-4D0C-851B-F6F737780A74}"/>
                </a:ext>
              </a:extLst>
            </p:cNvPr>
            <p:cNvSpPr/>
            <p:nvPr/>
          </p:nvSpPr>
          <p:spPr>
            <a:xfrm>
              <a:off x="8039389" y="1355536"/>
              <a:ext cx="1394818" cy="576064"/>
            </a:xfrm>
            <a:prstGeom prst="roundRect">
              <a:avLst>
                <a:gd name="adj" fmla="val 8801"/>
              </a:avLst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 dirty="0"/>
            </a:p>
          </p:txBody>
        </p:sp>
        <p:sp>
          <p:nvSpPr>
            <p:cNvPr id="23" name="Равнобедренный треугольник 22">
              <a:extLst>
                <a:ext uri="{FF2B5EF4-FFF2-40B4-BE49-F238E27FC236}">
                  <a16:creationId xmlns:a16="http://schemas.microsoft.com/office/drawing/2014/main" id="{E27FA36C-5195-A908-6B4F-DAD5D826D779}"/>
                </a:ext>
              </a:extLst>
            </p:cNvPr>
            <p:cNvSpPr/>
            <p:nvPr/>
          </p:nvSpPr>
          <p:spPr>
            <a:xfrm rot="5400000">
              <a:off x="8017524" y="1570713"/>
              <a:ext cx="187013" cy="145710"/>
            </a:xfrm>
            <a:prstGeom prst="triangle">
              <a:avLst/>
            </a:prstGeom>
            <a:solidFill>
              <a:srgbClr val="06C8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/>
            </a:p>
          </p:txBody>
        </p:sp>
        <p:sp>
          <p:nvSpPr>
            <p:cNvPr id="24" name="TextBox 222">
              <a:extLst>
                <a:ext uri="{FF2B5EF4-FFF2-40B4-BE49-F238E27FC236}">
                  <a16:creationId xmlns:a16="http://schemas.microsoft.com/office/drawing/2014/main" id="{B1A52498-514D-CAD7-9AD7-A84324B74050}"/>
                </a:ext>
              </a:extLst>
            </p:cNvPr>
            <p:cNvSpPr txBox="1"/>
            <p:nvPr/>
          </p:nvSpPr>
          <p:spPr>
            <a:xfrm>
              <a:off x="8295857" y="1443513"/>
              <a:ext cx="994334" cy="40011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rgbClr val="06C895"/>
                  </a:solidFill>
                  <a:latin typeface="Arial Black"/>
                  <a:ea typeface="Calibri"/>
                  <a:cs typeface="Arial"/>
                </a:rPr>
                <a:t>1</a:t>
              </a:r>
              <a:endParaRPr lang="ru-RU" sz="1600" dirty="0"/>
            </a:p>
          </p:txBody>
        </p:sp>
        <p:sp>
          <p:nvSpPr>
            <p:cNvPr id="25" name="TextBox 223">
              <a:extLst>
                <a:ext uri="{FF2B5EF4-FFF2-40B4-BE49-F238E27FC236}">
                  <a16:creationId xmlns:a16="http://schemas.microsoft.com/office/drawing/2014/main" id="{37610731-361B-1CBB-BA98-269AC9898052}"/>
                </a:ext>
              </a:extLst>
            </p:cNvPr>
            <p:cNvSpPr txBox="1"/>
            <p:nvPr/>
          </p:nvSpPr>
          <p:spPr>
            <a:xfrm>
              <a:off x="8587192" y="1435819"/>
              <a:ext cx="775007" cy="41549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000" dirty="0">
                  <a:solidFill>
                    <a:srgbClr val="262626"/>
                  </a:solidFill>
                  <a:latin typeface="Arial" pitchFamily="34" charset="0"/>
                  <a:ea typeface="Calibri"/>
                  <a:cs typeface="Arial" pitchFamily="34" charset="0"/>
                </a:rPr>
                <a:t>текст </a:t>
              </a:r>
              <a:r>
                <a:rPr lang="ru-RU" sz="1000" dirty="0" err="1">
                  <a:solidFill>
                    <a:srgbClr val="262626"/>
                  </a:solidFill>
                  <a:latin typeface="Arial" pitchFamily="34" charset="0"/>
                  <a:ea typeface="Calibri"/>
                  <a:cs typeface="Arial" pitchFamily="34" charset="0"/>
                </a:rPr>
                <a:t>фактоида</a:t>
              </a:r>
              <a:endParaRPr lang="ru-RU" sz="1000" dirty="0">
                <a:solidFill>
                  <a:srgbClr val="262626"/>
                </a:solidFill>
                <a:latin typeface="Arial" pitchFamily="34" charset="0"/>
                <a:ea typeface="Calibri"/>
                <a:cs typeface="Arial" pitchFamily="34" charset="0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2043470" y="3993685"/>
            <a:ext cx="1396031" cy="576064"/>
            <a:chOff x="8038176" y="1355536"/>
            <a:chExt cx="1396031" cy="576064"/>
          </a:xfrm>
        </p:grpSpPr>
        <p:sp>
          <p:nvSpPr>
            <p:cNvPr id="27" name="Прямоугольник: скругленные углы 14">
              <a:extLst>
                <a:ext uri="{FF2B5EF4-FFF2-40B4-BE49-F238E27FC236}">
                  <a16:creationId xmlns:a16="http://schemas.microsoft.com/office/drawing/2014/main" id="{0BE30F48-53FE-4D0C-851B-F6F737780A74}"/>
                </a:ext>
              </a:extLst>
            </p:cNvPr>
            <p:cNvSpPr/>
            <p:nvPr/>
          </p:nvSpPr>
          <p:spPr>
            <a:xfrm>
              <a:off x="8039389" y="1355536"/>
              <a:ext cx="1394818" cy="576064"/>
            </a:xfrm>
            <a:prstGeom prst="roundRect">
              <a:avLst>
                <a:gd name="adj" fmla="val 8801"/>
              </a:avLst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 dirty="0"/>
            </a:p>
          </p:txBody>
        </p:sp>
        <p:sp>
          <p:nvSpPr>
            <p:cNvPr id="28" name="Равнобедренный треугольник 27">
              <a:extLst>
                <a:ext uri="{FF2B5EF4-FFF2-40B4-BE49-F238E27FC236}">
                  <a16:creationId xmlns:a16="http://schemas.microsoft.com/office/drawing/2014/main" id="{E27FA36C-5195-A908-6B4F-DAD5D826D779}"/>
                </a:ext>
              </a:extLst>
            </p:cNvPr>
            <p:cNvSpPr/>
            <p:nvPr/>
          </p:nvSpPr>
          <p:spPr>
            <a:xfrm rot="5400000">
              <a:off x="8017524" y="1570713"/>
              <a:ext cx="187013" cy="145710"/>
            </a:xfrm>
            <a:prstGeom prst="triangle">
              <a:avLst/>
            </a:prstGeom>
            <a:solidFill>
              <a:srgbClr val="06C8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/>
            </a:p>
          </p:txBody>
        </p:sp>
        <p:sp>
          <p:nvSpPr>
            <p:cNvPr id="29" name="TextBox 222">
              <a:extLst>
                <a:ext uri="{FF2B5EF4-FFF2-40B4-BE49-F238E27FC236}">
                  <a16:creationId xmlns:a16="http://schemas.microsoft.com/office/drawing/2014/main" id="{B1A52498-514D-CAD7-9AD7-A84324B74050}"/>
                </a:ext>
              </a:extLst>
            </p:cNvPr>
            <p:cNvSpPr txBox="1"/>
            <p:nvPr/>
          </p:nvSpPr>
          <p:spPr>
            <a:xfrm>
              <a:off x="8295857" y="1443513"/>
              <a:ext cx="994334" cy="40011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rgbClr val="06C895"/>
                  </a:solidFill>
                  <a:latin typeface="Arial Black"/>
                  <a:ea typeface="Calibri"/>
                  <a:cs typeface="Arial"/>
                </a:rPr>
                <a:t>1</a:t>
              </a:r>
              <a:endParaRPr lang="ru-RU" sz="1600" dirty="0"/>
            </a:p>
          </p:txBody>
        </p:sp>
        <p:sp>
          <p:nvSpPr>
            <p:cNvPr id="30" name="TextBox 223">
              <a:extLst>
                <a:ext uri="{FF2B5EF4-FFF2-40B4-BE49-F238E27FC236}">
                  <a16:creationId xmlns:a16="http://schemas.microsoft.com/office/drawing/2014/main" id="{37610731-361B-1CBB-BA98-269AC9898052}"/>
                </a:ext>
              </a:extLst>
            </p:cNvPr>
            <p:cNvSpPr txBox="1"/>
            <p:nvPr/>
          </p:nvSpPr>
          <p:spPr>
            <a:xfrm>
              <a:off x="8587192" y="1435819"/>
              <a:ext cx="775007" cy="41549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000" dirty="0">
                  <a:solidFill>
                    <a:srgbClr val="262626"/>
                  </a:solidFill>
                  <a:latin typeface="Arial" pitchFamily="34" charset="0"/>
                  <a:ea typeface="Calibri"/>
                  <a:cs typeface="Arial" pitchFamily="34" charset="0"/>
                </a:rPr>
                <a:t>текст </a:t>
              </a:r>
              <a:r>
                <a:rPr lang="ru-RU" sz="1000" dirty="0" err="1">
                  <a:solidFill>
                    <a:srgbClr val="262626"/>
                  </a:solidFill>
                  <a:latin typeface="Arial" pitchFamily="34" charset="0"/>
                  <a:ea typeface="Calibri"/>
                  <a:cs typeface="Arial" pitchFamily="34" charset="0"/>
                </a:rPr>
                <a:t>фактоида</a:t>
              </a:r>
              <a:endParaRPr lang="ru-RU" sz="1000" dirty="0">
                <a:solidFill>
                  <a:srgbClr val="262626"/>
                </a:solidFill>
                <a:latin typeface="Arial" pitchFamily="34" charset="0"/>
                <a:ea typeface="Calibri"/>
                <a:cs typeface="Arial" pitchFamily="34" charset="0"/>
              </a:endParaRPr>
            </a:p>
          </p:txBody>
        </p:sp>
      </p:grpSp>
      <p:grpSp>
        <p:nvGrpSpPr>
          <p:cNvPr id="31" name="Группа 30"/>
          <p:cNvGrpSpPr/>
          <p:nvPr/>
        </p:nvGrpSpPr>
        <p:grpSpPr>
          <a:xfrm>
            <a:off x="3727996" y="3993685"/>
            <a:ext cx="1396031" cy="576064"/>
            <a:chOff x="8038176" y="1355536"/>
            <a:chExt cx="1396031" cy="576064"/>
          </a:xfrm>
        </p:grpSpPr>
        <p:sp>
          <p:nvSpPr>
            <p:cNvPr id="32" name="Прямоугольник: скругленные углы 14">
              <a:extLst>
                <a:ext uri="{FF2B5EF4-FFF2-40B4-BE49-F238E27FC236}">
                  <a16:creationId xmlns:a16="http://schemas.microsoft.com/office/drawing/2014/main" id="{0BE30F48-53FE-4D0C-851B-F6F737780A74}"/>
                </a:ext>
              </a:extLst>
            </p:cNvPr>
            <p:cNvSpPr/>
            <p:nvPr/>
          </p:nvSpPr>
          <p:spPr>
            <a:xfrm>
              <a:off x="8039389" y="1355536"/>
              <a:ext cx="1394818" cy="576064"/>
            </a:xfrm>
            <a:prstGeom prst="roundRect">
              <a:avLst>
                <a:gd name="adj" fmla="val 8801"/>
              </a:avLst>
            </a:prstGeom>
            <a:solidFill>
              <a:srgbClr val="ECEC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 dirty="0"/>
            </a:p>
          </p:txBody>
        </p:sp>
        <p:sp>
          <p:nvSpPr>
            <p:cNvPr id="33" name="Равнобедренный треугольник 32">
              <a:extLst>
                <a:ext uri="{FF2B5EF4-FFF2-40B4-BE49-F238E27FC236}">
                  <a16:creationId xmlns:a16="http://schemas.microsoft.com/office/drawing/2014/main" id="{E27FA36C-5195-A908-6B4F-DAD5D826D779}"/>
                </a:ext>
              </a:extLst>
            </p:cNvPr>
            <p:cNvSpPr/>
            <p:nvPr/>
          </p:nvSpPr>
          <p:spPr>
            <a:xfrm rot="5400000">
              <a:off x="8017524" y="1570713"/>
              <a:ext cx="187013" cy="145710"/>
            </a:xfrm>
            <a:prstGeom prst="triangle">
              <a:avLst/>
            </a:prstGeom>
            <a:solidFill>
              <a:srgbClr val="06C8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ru-RU" sz="1400"/>
            </a:p>
          </p:txBody>
        </p:sp>
        <p:sp>
          <p:nvSpPr>
            <p:cNvPr id="34" name="TextBox 222">
              <a:extLst>
                <a:ext uri="{FF2B5EF4-FFF2-40B4-BE49-F238E27FC236}">
                  <a16:creationId xmlns:a16="http://schemas.microsoft.com/office/drawing/2014/main" id="{B1A52498-514D-CAD7-9AD7-A84324B74050}"/>
                </a:ext>
              </a:extLst>
            </p:cNvPr>
            <p:cNvSpPr txBox="1"/>
            <p:nvPr/>
          </p:nvSpPr>
          <p:spPr>
            <a:xfrm>
              <a:off x="8295857" y="1443513"/>
              <a:ext cx="994334" cy="40011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rgbClr val="06C895"/>
                  </a:solidFill>
                  <a:latin typeface="Arial Black"/>
                  <a:ea typeface="Calibri"/>
                  <a:cs typeface="Arial"/>
                </a:rPr>
                <a:t>1</a:t>
              </a:r>
              <a:endParaRPr lang="ru-RU" sz="1600" dirty="0"/>
            </a:p>
          </p:txBody>
        </p:sp>
        <p:sp>
          <p:nvSpPr>
            <p:cNvPr id="35" name="TextBox 223">
              <a:extLst>
                <a:ext uri="{FF2B5EF4-FFF2-40B4-BE49-F238E27FC236}">
                  <a16:creationId xmlns:a16="http://schemas.microsoft.com/office/drawing/2014/main" id="{37610731-361B-1CBB-BA98-269AC9898052}"/>
                </a:ext>
              </a:extLst>
            </p:cNvPr>
            <p:cNvSpPr txBox="1"/>
            <p:nvPr/>
          </p:nvSpPr>
          <p:spPr>
            <a:xfrm>
              <a:off x="8587192" y="1435819"/>
              <a:ext cx="775007" cy="41549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000" dirty="0">
                  <a:solidFill>
                    <a:srgbClr val="262626"/>
                  </a:solidFill>
                  <a:latin typeface="Arial" pitchFamily="34" charset="0"/>
                  <a:ea typeface="Calibri"/>
                  <a:cs typeface="Arial" pitchFamily="34" charset="0"/>
                </a:rPr>
                <a:t>текст </a:t>
              </a:r>
              <a:r>
                <a:rPr lang="ru-RU" sz="1000" dirty="0" err="1">
                  <a:solidFill>
                    <a:srgbClr val="262626"/>
                  </a:solidFill>
                  <a:latin typeface="Arial" pitchFamily="34" charset="0"/>
                  <a:ea typeface="Calibri"/>
                  <a:cs typeface="Arial" pitchFamily="34" charset="0"/>
                </a:rPr>
                <a:t>фактоида</a:t>
              </a:r>
              <a:endParaRPr lang="ru-RU" sz="1000" dirty="0">
                <a:solidFill>
                  <a:srgbClr val="262626"/>
                </a:solidFill>
                <a:latin typeface="Arial" pitchFamily="34" charset="0"/>
                <a:ea typeface="Calibri"/>
                <a:cs typeface="Arial" pitchFamily="34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5DE1C43-FA04-43A8-A5AA-BA2155DC32B6}"/>
              </a:ext>
            </a:extLst>
          </p:cNvPr>
          <p:cNvSpPr txBox="1"/>
          <p:nvPr/>
        </p:nvSpPr>
        <p:spPr>
          <a:xfrm>
            <a:off x="520359" y="2475642"/>
            <a:ext cx="4627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ПРАКТИЧЕСКОЕ ПРИМЕНЕНИЕ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14">
            <a:extLst>
              <a:ext uri="{FF2B5EF4-FFF2-40B4-BE49-F238E27FC236}">
                <a16:creationId xmlns:a16="http://schemas.microsoft.com/office/drawing/2014/main" id="{89AFA2B1-6450-4E2B-B1A0-AF50FFBF2852}"/>
              </a:ext>
            </a:extLst>
          </p:cNvPr>
          <p:cNvSpPr/>
          <p:nvPr/>
        </p:nvSpPr>
        <p:spPr>
          <a:xfrm>
            <a:off x="375785" y="2355727"/>
            <a:ext cx="4916296" cy="1440160"/>
          </a:xfrm>
          <a:prstGeom prst="roundRect">
            <a:avLst>
              <a:gd name="adj" fmla="val 6350"/>
            </a:avLst>
          </a:prstGeom>
          <a:noFill/>
          <a:ln w="12700">
            <a:solidFill>
              <a:srgbClr val="06C8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rgbClr val="06C894"/>
              </a:solidFill>
            </a:endParaRPr>
          </a:p>
        </p:txBody>
      </p:sp>
      <p:pic>
        <p:nvPicPr>
          <p:cNvPr id="37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6012160" y="2435202"/>
            <a:ext cx="2195007" cy="417451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ФОТО</a:t>
            </a:r>
          </a:p>
          <a:p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РАЗРАБОТКИ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531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6834EF-693A-4343-916C-2DAEC3E27C1B}"/>
              </a:ext>
            </a:extLst>
          </p:cNvPr>
          <p:cNvSpPr/>
          <p:nvPr/>
        </p:nvSpPr>
        <p:spPr>
          <a:xfrm>
            <a:off x="0" y="4299942"/>
            <a:ext cx="9144000" cy="84355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50D46C-2930-482B-A63C-8A1ED22C361B}"/>
              </a:ext>
            </a:extLst>
          </p:cNvPr>
          <p:cNvSpPr txBox="1"/>
          <p:nvPr/>
        </p:nvSpPr>
        <p:spPr>
          <a:xfrm>
            <a:off x="281305" y="1706128"/>
            <a:ext cx="8503126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СЛЕДУЮЩИЕ СЛАЙДЫ ДЛЯ ПОМОЩИ В ОФОРМЛЕНИИ. 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360001" y="1479321"/>
            <a:ext cx="390810" cy="99296"/>
            <a:chOff x="360001" y="1479321"/>
            <a:chExt cx="390810" cy="99296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341BFD35-85A7-4385-A828-38429CAE1CE0}"/>
                </a:ext>
              </a:extLst>
            </p:cNvPr>
            <p:cNvSpPr/>
            <p:nvPr/>
          </p:nvSpPr>
          <p:spPr>
            <a:xfrm>
              <a:off x="360001" y="1479321"/>
              <a:ext cx="99296" cy="99296"/>
            </a:xfrm>
            <a:prstGeom prst="ellipse">
              <a:avLst/>
            </a:prstGeom>
            <a:solidFill>
              <a:srgbClr val="06C8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2B1F1ABA-BA84-4318-A3CB-BB80541643B1}"/>
                </a:ext>
              </a:extLst>
            </p:cNvPr>
            <p:cNvSpPr/>
            <p:nvPr/>
          </p:nvSpPr>
          <p:spPr>
            <a:xfrm>
              <a:off x="505843" y="1479321"/>
              <a:ext cx="99296" cy="99296"/>
            </a:xfrm>
            <a:prstGeom prst="ellipse">
              <a:avLst/>
            </a:prstGeom>
            <a:solidFill>
              <a:srgbClr val="06C894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8C510AE3-0587-4D22-AF1A-62E3D0974E9E}"/>
                </a:ext>
              </a:extLst>
            </p:cNvPr>
            <p:cNvSpPr/>
            <p:nvPr/>
          </p:nvSpPr>
          <p:spPr>
            <a:xfrm>
              <a:off x="651515" y="1479321"/>
              <a:ext cx="99296" cy="99296"/>
            </a:xfrm>
            <a:prstGeom prst="ellipse">
              <a:avLst/>
            </a:prstGeom>
            <a:solidFill>
              <a:srgbClr val="07EBAF">
                <a:alpha val="2784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3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B16FF4-CEDB-46A3-B40D-BD2EFB2876C9}"/>
              </a:ext>
            </a:extLst>
          </p:cNvPr>
          <p:cNvSpPr txBox="1"/>
          <p:nvPr/>
        </p:nvSpPr>
        <p:spPr>
          <a:xfrm>
            <a:off x="8491865" y="4569750"/>
            <a:ext cx="371250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41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554B0A-951D-4A66-B80C-2534DED324AE}"/>
              </a:ext>
            </a:extLst>
          </p:cNvPr>
          <p:cNvSpPr txBox="1"/>
          <p:nvPr/>
        </p:nvSpPr>
        <p:spPr>
          <a:xfrm>
            <a:off x="299472" y="1236367"/>
            <a:ext cx="5100065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Цвета, которые можно использовать 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 данном шаблоне (для большого количества значений в графиках).</a:t>
            </a:r>
          </a:p>
        </p:txBody>
      </p:sp>
      <p:sp>
        <p:nvSpPr>
          <p:cNvPr id="12" name="Скругленный прямоугольник 13">
            <a:extLst>
              <a:ext uri="{FF2B5EF4-FFF2-40B4-BE49-F238E27FC236}">
                <a16:creationId xmlns:a16="http://schemas.microsoft.com/office/drawing/2014/main" id="{5A516C13-E092-4CFC-8D4D-CEF618625B54}"/>
              </a:ext>
            </a:extLst>
          </p:cNvPr>
          <p:cNvSpPr/>
          <p:nvPr/>
        </p:nvSpPr>
        <p:spPr>
          <a:xfrm>
            <a:off x="359569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1458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3">
            <a:extLst>
              <a:ext uri="{FF2B5EF4-FFF2-40B4-BE49-F238E27FC236}">
                <a16:creationId xmlns:a16="http://schemas.microsoft.com/office/drawing/2014/main" id="{292B9ADF-6CE3-454F-B1BE-774659DFFD11}"/>
              </a:ext>
            </a:extLst>
          </p:cNvPr>
          <p:cNvSpPr/>
          <p:nvPr/>
        </p:nvSpPr>
        <p:spPr>
          <a:xfrm>
            <a:off x="1213665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1C7E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2B9690E-254E-408F-87E2-D8453F4D5D86}"/>
              </a:ext>
            </a:extLst>
          </p:cNvPr>
          <p:cNvSpPr/>
          <p:nvPr/>
        </p:nvSpPr>
        <p:spPr>
          <a:xfrm>
            <a:off x="2067760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239D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3">
            <a:extLst>
              <a:ext uri="{FF2B5EF4-FFF2-40B4-BE49-F238E27FC236}">
                <a16:creationId xmlns:a16="http://schemas.microsoft.com/office/drawing/2014/main" id="{A406A166-D5D1-4F00-BE46-F455D34A7F49}"/>
              </a:ext>
            </a:extLst>
          </p:cNvPr>
          <p:cNvSpPr/>
          <p:nvPr/>
        </p:nvSpPr>
        <p:spPr>
          <a:xfrm>
            <a:off x="2921856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28B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3">
            <a:extLst>
              <a:ext uri="{FF2B5EF4-FFF2-40B4-BE49-F238E27FC236}">
                <a16:creationId xmlns:a16="http://schemas.microsoft.com/office/drawing/2014/main" id="{2B7470DA-B750-446F-B8A1-10EA6F428FDE}"/>
              </a:ext>
            </a:extLst>
          </p:cNvPr>
          <p:cNvSpPr/>
          <p:nvPr/>
        </p:nvSpPr>
        <p:spPr>
          <a:xfrm>
            <a:off x="3775951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3FD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3">
            <a:extLst>
              <a:ext uri="{FF2B5EF4-FFF2-40B4-BE49-F238E27FC236}">
                <a16:creationId xmlns:a16="http://schemas.microsoft.com/office/drawing/2014/main" id="{77E645F2-CA02-4FE3-B9BF-A6044BFCDD88}"/>
              </a:ext>
            </a:extLst>
          </p:cNvPr>
          <p:cNvSpPr/>
          <p:nvPr/>
        </p:nvSpPr>
        <p:spPr>
          <a:xfrm>
            <a:off x="4630047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6FD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3">
            <a:extLst>
              <a:ext uri="{FF2B5EF4-FFF2-40B4-BE49-F238E27FC236}">
                <a16:creationId xmlns:a16="http://schemas.microsoft.com/office/drawing/2014/main" id="{33B8797B-384F-49CD-80C6-9BC09A500BEE}"/>
              </a:ext>
            </a:extLst>
          </p:cNvPr>
          <p:cNvSpPr/>
          <p:nvPr/>
        </p:nvSpPr>
        <p:spPr>
          <a:xfrm>
            <a:off x="5484142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8EE6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3">
            <a:extLst>
              <a:ext uri="{FF2B5EF4-FFF2-40B4-BE49-F238E27FC236}">
                <a16:creationId xmlns:a16="http://schemas.microsoft.com/office/drawing/2014/main" id="{23F91099-2180-4A43-B692-93C23A626D85}"/>
              </a:ext>
            </a:extLst>
          </p:cNvPr>
          <p:cNvSpPr/>
          <p:nvPr/>
        </p:nvSpPr>
        <p:spPr>
          <a:xfrm>
            <a:off x="6338238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BAF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3">
            <a:extLst>
              <a:ext uri="{FF2B5EF4-FFF2-40B4-BE49-F238E27FC236}">
                <a16:creationId xmlns:a16="http://schemas.microsoft.com/office/drawing/2014/main" id="{4A4E8AB9-B32B-42D5-881F-B9DDC60A13BB}"/>
              </a:ext>
            </a:extLst>
          </p:cNvPr>
          <p:cNvSpPr/>
          <p:nvPr/>
        </p:nvSpPr>
        <p:spPr>
          <a:xfrm>
            <a:off x="7192333" y="1762125"/>
            <a:ext cx="756431" cy="352792"/>
          </a:xfrm>
          <a:prstGeom prst="roundRect">
            <a:avLst>
              <a:gd name="adj" fmla="val 3141"/>
            </a:avLst>
          </a:prstGeom>
          <a:solidFill>
            <a:srgbClr val="D6F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13">
            <a:extLst>
              <a:ext uri="{FF2B5EF4-FFF2-40B4-BE49-F238E27FC236}">
                <a16:creationId xmlns:a16="http://schemas.microsoft.com/office/drawing/2014/main" id="{DEE155C7-F5F6-4E3A-8941-B2E5D298AC0A}"/>
              </a:ext>
            </a:extLst>
          </p:cNvPr>
          <p:cNvSpPr/>
          <p:nvPr/>
        </p:nvSpPr>
        <p:spPr>
          <a:xfrm>
            <a:off x="359569" y="2218959"/>
            <a:ext cx="756431" cy="352792"/>
          </a:xfrm>
          <a:prstGeom prst="roundRect">
            <a:avLst>
              <a:gd name="adj" fmla="val 3141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13">
            <a:extLst>
              <a:ext uri="{FF2B5EF4-FFF2-40B4-BE49-F238E27FC236}">
                <a16:creationId xmlns:a16="http://schemas.microsoft.com/office/drawing/2014/main" id="{5ECCCD88-D1E1-45E9-8F7F-7C2339E029F1}"/>
              </a:ext>
            </a:extLst>
          </p:cNvPr>
          <p:cNvSpPr/>
          <p:nvPr/>
        </p:nvSpPr>
        <p:spPr>
          <a:xfrm>
            <a:off x="1213665" y="2218959"/>
            <a:ext cx="756431" cy="352792"/>
          </a:xfrm>
          <a:prstGeom prst="roundRect">
            <a:avLst>
              <a:gd name="adj" fmla="val 314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13">
            <a:extLst>
              <a:ext uri="{FF2B5EF4-FFF2-40B4-BE49-F238E27FC236}">
                <a16:creationId xmlns:a16="http://schemas.microsoft.com/office/drawing/2014/main" id="{7426CB74-11E0-4942-A35B-DE67103EBADB}"/>
              </a:ext>
            </a:extLst>
          </p:cNvPr>
          <p:cNvSpPr/>
          <p:nvPr/>
        </p:nvSpPr>
        <p:spPr>
          <a:xfrm>
            <a:off x="2067760" y="2218959"/>
            <a:ext cx="756431" cy="352792"/>
          </a:xfrm>
          <a:prstGeom prst="roundRect">
            <a:avLst>
              <a:gd name="adj" fmla="val 314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13">
            <a:extLst>
              <a:ext uri="{FF2B5EF4-FFF2-40B4-BE49-F238E27FC236}">
                <a16:creationId xmlns:a16="http://schemas.microsoft.com/office/drawing/2014/main" id="{89D4CBB3-A40B-4EE9-B6F1-7562B0BE1570}"/>
              </a:ext>
            </a:extLst>
          </p:cNvPr>
          <p:cNvSpPr/>
          <p:nvPr/>
        </p:nvSpPr>
        <p:spPr>
          <a:xfrm>
            <a:off x="2921856" y="2218959"/>
            <a:ext cx="756431" cy="352792"/>
          </a:xfrm>
          <a:prstGeom prst="roundRect">
            <a:avLst>
              <a:gd name="adj" fmla="val 3141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5" name="Скругленный прямоугольник 13">
            <a:extLst>
              <a:ext uri="{FF2B5EF4-FFF2-40B4-BE49-F238E27FC236}">
                <a16:creationId xmlns:a16="http://schemas.microsoft.com/office/drawing/2014/main" id="{0FDCAFDE-AC68-4347-BF2D-55042092F7FF}"/>
              </a:ext>
            </a:extLst>
          </p:cNvPr>
          <p:cNvSpPr/>
          <p:nvPr/>
        </p:nvSpPr>
        <p:spPr>
          <a:xfrm>
            <a:off x="3775951" y="2218959"/>
            <a:ext cx="756431" cy="352792"/>
          </a:xfrm>
          <a:prstGeom prst="roundRect">
            <a:avLst>
              <a:gd name="adj" fmla="val 314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6" name="Скругленный прямоугольник 13">
            <a:extLst>
              <a:ext uri="{FF2B5EF4-FFF2-40B4-BE49-F238E27FC236}">
                <a16:creationId xmlns:a16="http://schemas.microsoft.com/office/drawing/2014/main" id="{BBE1A11A-A1FE-4B14-9C31-35506BAC3039}"/>
              </a:ext>
            </a:extLst>
          </p:cNvPr>
          <p:cNvSpPr/>
          <p:nvPr/>
        </p:nvSpPr>
        <p:spPr>
          <a:xfrm>
            <a:off x="4630047" y="2218959"/>
            <a:ext cx="756431" cy="352792"/>
          </a:xfrm>
          <a:prstGeom prst="roundRect">
            <a:avLst>
              <a:gd name="adj" fmla="val 3141"/>
            </a:avLst>
          </a:prstGeom>
          <a:solidFill>
            <a:srgbClr val="A7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7" name="Скругленный прямоугольник 13">
            <a:extLst>
              <a:ext uri="{FF2B5EF4-FFF2-40B4-BE49-F238E27FC236}">
                <a16:creationId xmlns:a16="http://schemas.microsoft.com/office/drawing/2014/main" id="{A60E4E71-F7E7-420F-BCDD-A1C24A274357}"/>
              </a:ext>
            </a:extLst>
          </p:cNvPr>
          <p:cNvSpPr/>
          <p:nvPr/>
        </p:nvSpPr>
        <p:spPr>
          <a:xfrm>
            <a:off x="5484142" y="2218959"/>
            <a:ext cx="756431" cy="352792"/>
          </a:xfrm>
          <a:prstGeom prst="roundRect">
            <a:avLst>
              <a:gd name="adj" fmla="val 3141"/>
            </a:avLst>
          </a:prstGeom>
          <a:solidFill>
            <a:srgbClr val="BAB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8" name="Скругленный прямоугольник 13">
            <a:extLst>
              <a:ext uri="{FF2B5EF4-FFF2-40B4-BE49-F238E27FC236}">
                <a16:creationId xmlns:a16="http://schemas.microsoft.com/office/drawing/2014/main" id="{7A97082A-54C5-498C-9172-3A204A65AA0A}"/>
              </a:ext>
            </a:extLst>
          </p:cNvPr>
          <p:cNvSpPr/>
          <p:nvPr/>
        </p:nvSpPr>
        <p:spPr>
          <a:xfrm>
            <a:off x="6338238" y="2218959"/>
            <a:ext cx="756431" cy="352792"/>
          </a:xfrm>
          <a:prstGeom prst="roundRect">
            <a:avLst>
              <a:gd name="adj" fmla="val 3141"/>
            </a:avLst>
          </a:prstGeom>
          <a:solidFill>
            <a:srgbClr val="D5D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29" name="Скругленный прямоугольник 13">
            <a:extLst>
              <a:ext uri="{FF2B5EF4-FFF2-40B4-BE49-F238E27FC236}">
                <a16:creationId xmlns:a16="http://schemas.microsoft.com/office/drawing/2014/main" id="{B1C6392B-FF26-489E-9180-758B21D0928C}"/>
              </a:ext>
            </a:extLst>
          </p:cNvPr>
          <p:cNvSpPr/>
          <p:nvPr/>
        </p:nvSpPr>
        <p:spPr>
          <a:xfrm>
            <a:off x="7192333" y="2218959"/>
            <a:ext cx="756431" cy="352792"/>
          </a:xfrm>
          <a:prstGeom prst="roundRect">
            <a:avLst>
              <a:gd name="adj" fmla="val 3141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ТЕХНИЧЕСКИЕ СЛАЙДЫ</a:t>
            </a:r>
          </a:p>
        </p:txBody>
      </p:sp>
      <p:pic>
        <p:nvPicPr>
          <p:cNvPr id="33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148C25A-D2AF-4123-AAF6-7AA8A7B9434A}"/>
              </a:ext>
            </a:extLst>
          </p:cNvPr>
          <p:cNvSpPr txBox="1"/>
          <p:nvPr/>
        </p:nvSpPr>
        <p:spPr>
          <a:xfrm>
            <a:off x="305999" y="2707278"/>
            <a:ext cx="1026001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solidFill>
                  <a:srgbClr val="464646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Пример:</a:t>
            </a:r>
          </a:p>
        </p:txBody>
      </p:sp>
      <p:graphicFrame>
        <p:nvGraphicFramePr>
          <p:cNvPr id="36" name="Таблица 7">
            <a:extLst>
              <a:ext uri="{FF2B5EF4-FFF2-40B4-BE49-F238E27FC236}">
                <a16:creationId xmlns:a16="http://schemas.microsoft.com/office/drawing/2014/main" id="{B818344F-CC1F-47D8-A009-A074947BA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05879"/>
              </p:ext>
            </p:extLst>
          </p:nvPr>
        </p:nvGraphicFramePr>
        <p:xfrm>
          <a:off x="359569" y="3075806"/>
          <a:ext cx="8117580" cy="1386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758">
                  <a:extLst>
                    <a:ext uri="{9D8B030D-6E8A-4147-A177-3AD203B41FA5}">
                      <a16:colId xmlns:a16="http://schemas.microsoft.com/office/drawing/2014/main" val="3112323235"/>
                    </a:ext>
                  </a:extLst>
                </a:gridCol>
                <a:gridCol w="7305822">
                  <a:extLst>
                    <a:ext uri="{9D8B030D-6E8A-4147-A177-3AD203B41FA5}">
                      <a16:colId xmlns:a16="http://schemas.microsoft.com/office/drawing/2014/main" val="217008305"/>
                    </a:ext>
                  </a:extLst>
                </a:gridCol>
              </a:tblGrid>
              <a:tr h="298038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D4A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E6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942418"/>
                  </a:ext>
                </a:extLst>
              </a:tr>
              <a:tr h="347078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F6E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13518"/>
                  </a:ext>
                </a:extLst>
              </a:tr>
              <a:tr h="363242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F6E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874964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endParaRPr lang="ru-RU" sz="12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F6EE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a:endParaRPr>
                    </a:p>
                  </a:txBody>
                  <a:tcPr marL="59981" marR="59981" marT="29990" marB="2999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956602"/>
                  </a:ext>
                </a:extLst>
              </a:tr>
            </a:tbl>
          </a:graphicData>
        </a:graphic>
      </p:graphicFrame>
      <p:pic>
        <p:nvPicPr>
          <p:cNvPr id="30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397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554B0A-951D-4A66-B80C-2534DED324AE}"/>
              </a:ext>
            </a:extLst>
          </p:cNvPr>
          <p:cNvSpPr txBox="1"/>
          <p:nvPr/>
        </p:nvSpPr>
        <p:spPr>
          <a:xfrm>
            <a:off x="299471" y="1236367"/>
            <a:ext cx="7944529" cy="32085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Шрифт, который используется в данной презентации –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Arial.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Для выделения заголовков или важной информации в тексте можно использовать разные начертания шрифтов: полужирное и обычное.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Минимальный размер шрифта для заголовков – 24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пт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максимальный – 40 пт. Для основного текста минимальный размер – 12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пт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максимальный – 16 пт. </a:t>
            </a:r>
          </a:p>
          <a:p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Абсолютно все элементы, представленные в данной презентации, можно двигать, менять их размер, убирать. Все слайды представлены как пример использования фирменного стиля в презентационных материалах.</a:t>
            </a:r>
          </a:p>
          <a:p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Также в презентации можно использовать фирменный шрифт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ОмГТУ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«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Aeroport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».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Данный шрифт вы можете найти на сайте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ОмГТУ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в разделе Университет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Фирменный стиль Омского Политеха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Шрифт.</a:t>
            </a:r>
          </a:p>
          <a:p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Для использования шрифта его нужно установить себе на устройство. </a:t>
            </a:r>
          </a:p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Скачайте архив со шрифтом, распакуйте его в новую папку, выделите все файлы формата .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ttf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, нажмите правую кнопку мыши и выберите «Установить».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ТЕХНИЧЕСКИЕ СЛАЙДЫ</a:t>
            </a:r>
          </a:p>
        </p:txBody>
      </p:sp>
      <p:pic>
        <p:nvPicPr>
          <p:cNvPr id="9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800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186FF4-7A97-4E03-A56A-8E058D735CF1}"/>
              </a:ext>
            </a:extLst>
          </p:cNvPr>
          <p:cNvSpPr txBox="1"/>
          <p:nvPr/>
        </p:nvSpPr>
        <p:spPr>
          <a:xfrm>
            <a:off x="299472" y="1126174"/>
            <a:ext cx="5352529" cy="168507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Работа с фото: </a:t>
            </a:r>
          </a:p>
          <a:p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Скопируйте на слайд фигуру, которая необходима, путем выделения объекта и нажатия клавиш </a:t>
            </a:r>
            <a:r>
              <a:rPr lang="ru-RU" sz="900" dirty="0" err="1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Ctrl+C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(скопировать) и </a:t>
            </a:r>
            <a:r>
              <a:rPr lang="ru-RU" sz="900" dirty="0" err="1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Ctrl+V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(вставить).</a:t>
            </a:r>
          </a:p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Для размещения изображения нажмите на фигуру, перейдите в раздел «Формат фигуры» («Средства рисования» – актуально для </a:t>
            </a:r>
            <a:r>
              <a:rPr lang="en-US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PowerPoint 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версий до 2010 года), затем выберите «Заливка фигуры» и нажмите на «Рисунок».</a:t>
            </a:r>
          </a:p>
          <a:p>
            <a:pPr marL="257175" indent="-257175">
              <a:buFontTx/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Далее добавьте нужное изображение в качестве «Заливки фигуры» со своего компьютера.</a:t>
            </a:r>
          </a:p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Для замены изображения нажмите на фигуру, откройте раздел «Формат рисунка» потом «Изменить изображение» (в версиях </a:t>
            </a:r>
            <a:r>
              <a:rPr lang="en-US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PowerPoint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до 2010 года изображение меняется по принципу пункта 2, с помощью «Средства рисования» и «Заливка фигуры»).</a:t>
            </a:r>
            <a:endParaRPr lang="ru-RU" sz="900" dirty="0">
              <a:solidFill>
                <a:srgbClr val="0000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FE6494-06C3-4A16-A793-95DFAE6335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rgbClr val="8EE6C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46" t="3487" r="8081" b="7610"/>
          <a:stretch/>
        </p:blipFill>
        <p:spPr>
          <a:xfrm>
            <a:off x="5814000" y="1437750"/>
            <a:ext cx="2805298" cy="2754000"/>
          </a:xfrm>
          <a:custGeom>
            <a:avLst/>
            <a:gdLst>
              <a:gd name="connsiteX0" fmla="*/ 877385 w 2917512"/>
              <a:gd name="connsiteY0" fmla="*/ 0 h 2864162"/>
              <a:gd name="connsiteX1" fmla="*/ 2791979 w 2917512"/>
              <a:gd name="connsiteY1" fmla="*/ 2978 h 2864162"/>
              <a:gd name="connsiteX2" fmla="*/ 2910808 w 2917512"/>
              <a:gd name="connsiteY2" fmla="*/ 133230 h 2864162"/>
              <a:gd name="connsiteX3" fmla="*/ 2916926 w 2917512"/>
              <a:gd name="connsiteY3" fmla="*/ 1827162 h 2864162"/>
              <a:gd name="connsiteX4" fmla="*/ 2833068 w 2917512"/>
              <a:gd name="connsiteY4" fmla="*/ 1925799 h 2864162"/>
              <a:gd name="connsiteX5" fmla="*/ 1937108 w 2917512"/>
              <a:gd name="connsiteY5" fmla="*/ 1925799 h 2864162"/>
              <a:gd name="connsiteX6" fmla="*/ 1826670 w 2917512"/>
              <a:gd name="connsiteY6" fmla="*/ 2015179 h 2864162"/>
              <a:gd name="connsiteX7" fmla="*/ 1829755 w 2917512"/>
              <a:gd name="connsiteY7" fmla="*/ 2771791 h 2864162"/>
              <a:gd name="connsiteX8" fmla="*/ 1746926 w 2917512"/>
              <a:gd name="connsiteY8" fmla="*/ 2855215 h 2864162"/>
              <a:gd name="connsiteX9" fmla="*/ 96140 w 2917512"/>
              <a:gd name="connsiteY9" fmla="*/ 2864148 h 2864162"/>
              <a:gd name="connsiteX10" fmla="*/ 643 w 2917512"/>
              <a:gd name="connsiteY10" fmla="*/ 2774444 h 2864162"/>
              <a:gd name="connsiteX11" fmla="*/ 3729 w 2917512"/>
              <a:gd name="connsiteY11" fmla="*/ 848157 h 2864162"/>
              <a:gd name="connsiteX12" fmla="*/ 877385 w 2917512"/>
              <a:gd name="connsiteY12" fmla="*/ 0 h 2864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17512" h="2864162">
                <a:moveTo>
                  <a:pt x="877385" y="0"/>
                </a:moveTo>
                <a:lnTo>
                  <a:pt x="2791979" y="2978"/>
                </a:lnTo>
                <a:cubicBezTo>
                  <a:pt x="2896029" y="1732"/>
                  <a:pt x="2920282" y="9420"/>
                  <a:pt x="2910808" y="133230"/>
                </a:cubicBezTo>
                <a:cubicBezTo>
                  <a:pt x="2912866" y="670048"/>
                  <a:pt x="2914923" y="1290290"/>
                  <a:pt x="2916926" y="1827162"/>
                </a:cubicBezTo>
                <a:cubicBezTo>
                  <a:pt x="2919633" y="1907718"/>
                  <a:pt x="2916276" y="1922713"/>
                  <a:pt x="2833068" y="1925799"/>
                </a:cubicBezTo>
                <a:lnTo>
                  <a:pt x="1937108" y="1925799"/>
                </a:lnTo>
                <a:cubicBezTo>
                  <a:pt x="1881889" y="1925799"/>
                  <a:pt x="1832787" y="1928777"/>
                  <a:pt x="1826670" y="2015179"/>
                </a:cubicBezTo>
                <a:lnTo>
                  <a:pt x="1829755" y="2771791"/>
                </a:lnTo>
                <a:cubicBezTo>
                  <a:pt x="1832841" y="2820460"/>
                  <a:pt x="1826670" y="2848232"/>
                  <a:pt x="1746926" y="2855215"/>
                </a:cubicBezTo>
                <a:lnTo>
                  <a:pt x="96140" y="2864148"/>
                </a:lnTo>
                <a:cubicBezTo>
                  <a:pt x="16234" y="2865014"/>
                  <a:pt x="805" y="2827173"/>
                  <a:pt x="643" y="2774444"/>
                </a:cubicBezTo>
                <a:cubicBezTo>
                  <a:pt x="-2443" y="2500729"/>
                  <a:pt x="6761" y="1121872"/>
                  <a:pt x="3729" y="848157"/>
                </a:cubicBezTo>
                <a:cubicBezTo>
                  <a:pt x="3675" y="379714"/>
                  <a:pt x="394866" y="0"/>
                  <a:pt x="877385" y="0"/>
                </a:cubicBez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737DFD-4395-44E4-9664-4292C080A0D3}"/>
              </a:ext>
            </a:extLst>
          </p:cNvPr>
          <p:cNvSpPr txBox="1"/>
          <p:nvPr/>
        </p:nvSpPr>
        <p:spPr>
          <a:xfrm>
            <a:off x="359568" y="2895750"/>
            <a:ext cx="4570784" cy="18697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Изображение вставится искаженным. Чтобы его отредактировать необходимо: </a:t>
            </a:r>
          </a:p>
          <a:p>
            <a:pPr marL="171450" indent="-171450"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Выбрать вкладку «Формат рисунка» 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(«Работа с рисунком» – актуально для </a:t>
            </a:r>
            <a:r>
              <a:rPr lang="en-US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PowerPoint 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версий до 2010 года)</a:t>
            </a:r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. </a:t>
            </a:r>
          </a:p>
          <a:p>
            <a:pPr marL="171450" indent="-171450"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Справа нажмите на инструмент «Обрезка» 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и в данном инструменте выберите «Заливка».</a:t>
            </a:r>
          </a:p>
          <a:p>
            <a:pPr marL="171450" indent="-171450"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Появятся точки на углах изображения для изменения масштаба и пропорций картинки. Путем перемещения курсором можно менять положение изображения в форме.</a:t>
            </a:r>
          </a:p>
          <a:p>
            <a:endParaRPr lang="ru-RU" sz="9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Если необходимо изменить размер фигуры, нажмите на нее, затем на ее уголок </a:t>
            </a:r>
          </a:p>
          <a:p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и потяните его в сторону – фигура станет больше. Если необходимо пропорционально увеличить изображение без искажения, тяните за уголок </a:t>
            </a:r>
          </a:p>
          <a:p>
            <a:r>
              <a:rPr lang="ru-RU" sz="900" dirty="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с зажатой клавишей Shift.</a:t>
            </a:r>
            <a:endParaRPr lang="ru-RU" sz="9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ТЕХНИЧЕСКИЕ СЛАЙДЫ</a:t>
            </a:r>
          </a:p>
        </p:txBody>
      </p:sp>
      <p:pic>
        <p:nvPicPr>
          <p:cNvPr id="12" name="Picture 2" descr="C:\Users\AABugaev\Downloads\Group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9755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21A9C2-6290-4DB2-8452-ECD664561CE1}"/>
              </a:ext>
            </a:extLst>
          </p:cNvPr>
          <p:cNvSpPr txBox="1"/>
          <p:nvPr/>
        </p:nvSpPr>
        <p:spPr>
          <a:xfrm>
            <a:off x="299471" y="1236367"/>
            <a:ext cx="6702529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Формы для изображения, которые можно использовать в данной презентации.</a:t>
            </a:r>
          </a:p>
        </p:txBody>
      </p:sp>
      <p:sp>
        <p:nvSpPr>
          <p:cNvPr id="8" name="Рисунок 9">
            <a:extLst>
              <a:ext uri="{FF2B5EF4-FFF2-40B4-BE49-F238E27FC236}">
                <a16:creationId xmlns:a16="http://schemas.microsoft.com/office/drawing/2014/main" id="{26642844-BD35-4CC8-840F-D19F38665636}"/>
              </a:ext>
            </a:extLst>
          </p:cNvPr>
          <p:cNvSpPr/>
          <p:nvPr/>
        </p:nvSpPr>
        <p:spPr>
          <a:xfrm>
            <a:off x="359569" y="1762125"/>
            <a:ext cx="2177678" cy="2136435"/>
          </a:xfrm>
          <a:custGeom>
            <a:avLst/>
            <a:gdLst>
              <a:gd name="connsiteX0" fmla="*/ 107178 w 2903571"/>
              <a:gd name="connsiteY0" fmla="*/ 0 h 2848580"/>
              <a:gd name="connsiteX1" fmla="*/ 2796394 w 2903571"/>
              <a:gd name="connsiteY1" fmla="*/ 0 h 2848580"/>
              <a:gd name="connsiteX2" fmla="*/ 2903572 w 2903571"/>
              <a:gd name="connsiteY2" fmla="*/ 107178 h 2848580"/>
              <a:gd name="connsiteX3" fmla="*/ 2903572 w 2903571"/>
              <a:gd name="connsiteY3" fmla="*/ 2741403 h 2848580"/>
              <a:gd name="connsiteX4" fmla="*/ 2796394 w 2903571"/>
              <a:gd name="connsiteY4" fmla="*/ 2848581 h 2848580"/>
              <a:gd name="connsiteX5" fmla="*/ 107178 w 2903571"/>
              <a:gd name="connsiteY5" fmla="*/ 2848581 h 2848580"/>
              <a:gd name="connsiteX6" fmla="*/ 0 w 2903571"/>
              <a:gd name="connsiteY6" fmla="*/ 2741403 h 2848580"/>
              <a:gd name="connsiteX7" fmla="*/ 0 w 2903571"/>
              <a:gd name="connsiteY7" fmla="*/ 107178 h 2848580"/>
              <a:gd name="connsiteX8" fmla="*/ 107178 w 2903571"/>
              <a:gd name="connsiteY8" fmla="*/ 0 h 284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3571" h="2848580">
                <a:moveTo>
                  <a:pt x="107178" y="0"/>
                </a:moveTo>
                <a:lnTo>
                  <a:pt x="2796394" y="0"/>
                </a:lnTo>
                <a:cubicBezTo>
                  <a:pt x="2855536" y="0"/>
                  <a:pt x="2903572" y="48036"/>
                  <a:pt x="2903572" y="107178"/>
                </a:cubicBezTo>
                <a:lnTo>
                  <a:pt x="2903572" y="2741403"/>
                </a:lnTo>
                <a:cubicBezTo>
                  <a:pt x="2903572" y="2800545"/>
                  <a:pt x="2855536" y="2848581"/>
                  <a:pt x="2796394" y="2848581"/>
                </a:cubicBezTo>
                <a:lnTo>
                  <a:pt x="107178" y="2848581"/>
                </a:lnTo>
                <a:cubicBezTo>
                  <a:pt x="48036" y="2848581"/>
                  <a:pt x="0" y="2800545"/>
                  <a:pt x="0" y="2741403"/>
                </a:cubicBezTo>
                <a:lnTo>
                  <a:pt x="0" y="107178"/>
                </a:lnTo>
                <a:cubicBezTo>
                  <a:pt x="0" y="48036"/>
                  <a:pt x="48036" y="0"/>
                  <a:pt x="107178" y="0"/>
                </a:cubicBezTo>
                <a:close/>
              </a:path>
            </a:pathLst>
          </a:custGeom>
          <a:solidFill>
            <a:srgbClr val="BABABA"/>
          </a:solidFill>
          <a:ln w="5390" cap="flat">
            <a:noFill/>
            <a:prstDash val="solid"/>
            <a:miter/>
          </a:ln>
        </p:spPr>
        <p:txBody>
          <a:bodyPr lIns="68580" tIns="34290" rIns="68580" bIns="34290" rtlCol="0" anchor="ctr"/>
          <a:lstStyle/>
          <a:p>
            <a:endParaRPr lang="ru-RU"/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0FADBCA3-282F-4CA0-8104-D29BD622CF91}"/>
              </a:ext>
            </a:extLst>
          </p:cNvPr>
          <p:cNvSpPr/>
          <p:nvPr/>
        </p:nvSpPr>
        <p:spPr>
          <a:xfrm>
            <a:off x="2625784" y="1749585"/>
            <a:ext cx="2188133" cy="2148122"/>
          </a:xfrm>
          <a:custGeom>
            <a:avLst/>
            <a:gdLst>
              <a:gd name="connsiteX0" fmla="*/ 877384 w 2917511"/>
              <a:gd name="connsiteY0" fmla="*/ 0 h 2864162"/>
              <a:gd name="connsiteX1" fmla="*/ 2791978 w 2917511"/>
              <a:gd name="connsiteY1" fmla="*/ 2978 h 2864162"/>
              <a:gd name="connsiteX2" fmla="*/ 2910807 w 2917511"/>
              <a:gd name="connsiteY2" fmla="*/ 133230 h 2864162"/>
              <a:gd name="connsiteX3" fmla="*/ 2916925 w 2917511"/>
              <a:gd name="connsiteY3" fmla="*/ 1827162 h 2864162"/>
              <a:gd name="connsiteX4" fmla="*/ 2833067 w 2917511"/>
              <a:gd name="connsiteY4" fmla="*/ 1925799 h 2864162"/>
              <a:gd name="connsiteX5" fmla="*/ 1937107 w 2917511"/>
              <a:gd name="connsiteY5" fmla="*/ 1925799 h 2864162"/>
              <a:gd name="connsiteX6" fmla="*/ 1826669 w 2917511"/>
              <a:gd name="connsiteY6" fmla="*/ 2015179 h 2864162"/>
              <a:gd name="connsiteX7" fmla="*/ 1829754 w 2917511"/>
              <a:gd name="connsiteY7" fmla="*/ 2771791 h 2864162"/>
              <a:gd name="connsiteX8" fmla="*/ 1746925 w 2917511"/>
              <a:gd name="connsiteY8" fmla="*/ 2855215 h 2864162"/>
              <a:gd name="connsiteX9" fmla="*/ 96139 w 2917511"/>
              <a:gd name="connsiteY9" fmla="*/ 2864148 h 2864162"/>
              <a:gd name="connsiteX10" fmla="*/ 642 w 2917511"/>
              <a:gd name="connsiteY10" fmla="*/ 2774444 h 2864162"/>
              <a:gd name="connsiteX11" fmla="*/ 3728 w 2917511"/>
              <a:gd name="connsiteY11" fmla="*/ 848157 h 2864162"/>
              <a:gd name="connsiteX12" fmla="*/ 877384 w 2917511"/>
              <a:gd name="connsiteY12" fmla="*/ 0 h 2864162"/>
              <a:gd name="connsiteX13" fmla="*/ 877384 w 2917511"/>
              <a:gd name="connsiteY13" fmla="*/ 0 h 2864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7511" h="2864162">
                <a:moveTo>
                  <a:pt x="877384" y="0"/>
                </a:moveTo>
                <a:lnTo>
                  <a:pt x="2791978" y="2978"/>
                </a:lnTo>
                <a:cubicBezTo>
                  <a:pt x="2896028" y="1732"/>
                  <a:pt x="2920281" y="9420"/>
                  <a:pt x="2910807" y="133230"/>
                </a:cubicBezTo>
                <a:cubicBezTo>
                  <a:pt x="2912865" y="670048"/>
                  <a:pt x="2914922" y="1290290"/>
                  <a:pt x="2916925" y="1827162"/>
                </a:cubicBezTo>
                <a:cubicBezTo>
                  <a:pt x="2919632" y="1907718"/>
                  <a:pt x="2916275" y="1922713"/>
                  <a:pt x="2833067" y="1925799"/>
                </a:cubicBezTo>
                <a:lnTo>
                  <a:pt x="1937107" y="1925799"/>
                </a:lnTo>
                <a:cubicBezTo>
                  <a:pt x="1881888" y="1925799"/>
                  <a:pt x="1832786" y="1928777"/>
                  <a:pt x="1826669" y="2015179"/>
                </a:cubicBezTo>
                <a:lnTo>
                  <a:pt x="1829754" y="2771791"/>
                </a:lnTo>
                <a:cubicBezTo>
                  <a:pt x="1832840" y="2820460"/>
                  <a:pt x="1826669" y="2848232"/>
                  <a:pt x="1746925" y="2855215"/>
                </a:cubicBezTo>
                <a:lnTo>
                  <a:pt x="96139" y="2864148"/>
                </a:lnTo>
                <a:cubicBezTo>
                  <a:pt x="16233" y="2865014"/>
                  <a:pt x="804" y="2827173"/>
                  <a:pt x="642" y="2774444"/>
                </a:cubicBezTo>
                <a:cubicBezTo>
                  <a:pt x="-2444" y="2500729"/>
                  <a:pt x="6760" y="1121872"/>
                  <a:pt x="3728" y="848157"/>
                </a:cubicBezTo>
                <a:cubicBezTo>
                  <a:pt x="3674" y="379714"/>
                  <a:pt x="394865" y="0"/>
                  <a:pt x="877384" y="0"/>
                </a:cubicBezTo>
                <a:lnTo>
                  <a:pt x="877384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5408" cap="flat">
            <a:noFill/>
            <a:prstDash val="solid"/>
            <a:miter/>
          </a:ln>
        </p:spPr>
        <p:txBody>
          <a:bodyPr lIns="68580" tIns="34290" rIns="68580" bIns="34290" rtlCol="0" anchor="ctr"/>
          <a:lstStyle/>
          <a:p>
            <a:endParaRPr lang="ru-RU"/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3ACAA1F5-982E-469F-A819-A069AF5249D6}"/>
              </a:ext>
            </a:extLst>
          </p:cNvPr>
          <p:cNvSpPr/>
          <p:nvPr/>
        </p:nvSpPr>
        <p:spPr>
          <a:xfrm>
            <a:off x="4915418" y="1929581"/>
            <a:ext cx="2148298" cy="1788130"/>
          </a:xfrm>
          <a:custGeom>
            <a:avLst/>
            <a:gdLst>
              <a:gd name="connsiteX0" fmla="*/ 903904 w 2864397"/>
              <a:gd name="connsiteY0" fmla="*/ 0 h 2384173"/>
              <a:gd name="connsiteX1" fmla="*/ 2830376 w 2864397"/>
              <a:gd name="connsiteY1" fmla="*/ 0 h 2384173"/>
              <a:gd name="connsiteX2" fmla="*/ 2864398 w 2864397"/>
              <a:gd name="connsiteY2" fmla="*/ 34022 h 2384173"/>
              <a:gd name="connsiteX3" fmla="*/ 2864398 w 2864397"/>
              <a:gd name="connsiteY3" fmla="*/ 1636904 h 2384173"/>
              <a:gd name="connsiteX4" fmla="*/ 2831427 w 2864397"/>
              <a:gd name="connsiteY4" fmla="*/ 1669874 h 2384173"/>
              <a:gd name="connsiteX5" fmla="*/ 1710235 w 2864397"/>
              <a:gd name="connsiteY5" fmla="*/ 1669874 h 2384173"/>
              <a:gd name="connsiteX6" fmla="*/ 1668791 w 2864397"/>
              <a:gd name="connsiteY6" fmla="*/ 1711287 h 2384173"/>
              <a:gd name="connsiteX7" fmla="*/ 1668791 w 2864397"/>
              <a:gd name="connsiteY7" fmla="*/ 2350152 h 2384173"/>
              <a:gd name="connsiteX8" fmla="*/ 1634769 w 2864397"/>
              <a:gd name="connsiteY8" fmla="*/ 2384174 h 2384173"/>
              <a:gd name="connsiteX9" fmla="*/ 34022 w 2864397"/>
              <a:gd name="connsiteY9" fmla="*/ 2384174 h 2384173"/>
              <a:gd name="connsiteX10" fmla="*/ 0 w 2864397"/>
              <a:gd name="connsiteY10" fmla="*/ 2350152 h 2384173"/>
              <a:gd name="connsiteX11" fmla="*/ 0 w 2864397"/>
              <a:gd name="connsiteY11" fmla="*/ 903554 h 2384173"/>
              <a:gd name="connsiteX12" fmla="*/ 903904 w 2864397"/>
              <a:gd name="connsiteY12" fmla="*/ 0 h 2384173"/>
              <a:gd name="connsiteX13" fmla="*/ 903904 w 2864397"/>
              <a:gd name="connsiteY13" fmla="*/ 0 h 2384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64397" h="2384173">
                <a:moveTo>
                  <a:pt x="903904" y="0"/>
                </a:moveTo>
                <a:lnTo>
                  <a:pt x="2830376" y="0"/>
                </a:lnTo>
                <a:cubicBezTo>
                  <a:pt x="2849171" y="0"/>
                  <a:pt x="2864398" y="15227"/>
                  <a:pt x="2864398" y="34022"/>
                </a:cubicBezTo>
                <a:lnTo>
                  <a:pt x="2864398" y="1636904"/>
                </a:lnTo>
                <a:cubicBezTo>
                  <a:pt x="2864398" y="1655029"/>
                  <a:pt x="2849712" y="1669874"/>
                  <a:pt x="2831427" y="1669874"/>
                </a:cubicBezTo>
                <a:lnTo>
                  <a:pt x="1710235" y="1669874"/>
                </a:lnTo>
                <a:cubicBezTo>
                  <a:pt x="1687331" y="1669874"/>
                  <a:pt x="1668791" y="1688414"/>
                  <a:pt x="1668791" y="1711287"/>
                </a:cubicBezTo>
                <a:lnTo>
                  <a:pt x="1668791" y="2350152"/>
                </a:lnTo>
                <a:cubicBezTo>
                  <a:pt x="1668791" y="2368947"/>
                  <a:pt x="1653564" y="2384174"/>
                  <a:pt x="1634769" y="2384174"/>
                </a:cubicBezTo>
                <a:lnTo>
                  <a:pt x="34022" y="2384174"/>
                </a:lnTo>
                <a:cubicBezTo>
                  <a:pt x="15227" y="2384174"/>
                  <a:pt x="0" y="2368947"/>
                  <a:pt x="0" y="2350152"/>
                </a:cubicBezTo>
                <a:lnTo>
                  <a:pt x="0" y="903554"/>
                </a:lnTo>
                <a:cubicBezTo>
                  <a:pt x="0" y="404599"/>
                  <a:pt x="404758" y="0"/>
                  <a:pt x="903904" y="0"/>
                </a:cubicBezTo>
                <a:lnTo>
                  <a:pt x="903904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9" cap="flat">
            <a:noFill/>
            <a:prstDash val="solid"/>
            <a:miter/>
          </a:ln>
        </p:spPr>
        <p:txBody>
          <a:bodyPr lIns="68580" tIns="34290" rIns="68580" bIns="34290" rtlCol="0" anchor="ctr"/>
          <a:lstStyle/>
          <a:p>
            <a:endParaRPr lang="ru-RU"/>
          </a:p>
        </p:txBody>
      </p:sp>
      <p:sp>
        <p:nvSpPr>
          <p:cNvPr id="14" name="Рисунок 12">
            <a:extLst>
              <a:ext uri="{FF2B5EF4-FFF2-40B4-BE49-F238E27FC236}">
                <a16:creationId xmlns:a16="http://schemas.microsoft.com/office/drawing/2014/main" id="{B626EAB8-EAC0-4D8E-8585-2D913212335C}"/>
              </a:ext>
            </a:extLst>
          </p:cNvPr>
          <p:cNvSpPr/>
          <p:nvPr/>
        </p:nvSpPr>
        <p:spPr>
          <a:xfrm>
            <a:off x="7157589" y="1755480"/>
            <a:ext cx="1432197" cy="2247202"/>
          </a:xfrm>
          <a:custGeom>
            <a:avLst/>
            <a:gdLst>
              <a:gd name="connsiteX0" fmla="*/ 897505 w 1909596"/>
              <a:gd name="connsiteY0" fmla="*/ 0 h 2996269"/>
              <a:gd name="connsiteX1" fmla="*/ 1909596 w 1909596"/>
              <a:gd name="connsiteY1" fmla="*/ 0 h 2996269"/>
              <a:gd name="connsiteX2" fmla="*/ 1909596 w 1909596"/>
              <a:gd name="connsiteY2" fmla="*/ 2996269 h 2996269"/>
              <a:gd name="connsiteX3" fmla="*/ 923643 w 1909596"/>
              <a:gd name="connsiteY3" fmla="*/ 2996269 h 2996269"/>
              <a:gd name="connsiteX4" fmla="*/ 356317 w 1909596"/>
              <a:gd name="connsiteY4" fmla="*/ 2428921 h 2996269"/>
              <a:gd name="connsiteX5" fmla="*/ 0 w 1909596"/>
              <a:gd name="connsiteY5" fmla="*/ 1490858 h 2996269"/>
              <a:gd name="connsiteX6" fmla="*/ 0 w 1909596"/>
              <a:gd name="connsiteY6" fmla="*/ 1490105 h 2996269"/>
              <a:gd name="connsiteX7" fmla="*/ 338907 w 1909596"/>
              <a:gd name="connsiteY7" fmla="*/ 558665 h 2996269"/>
              <a:gd name="connsiteX8" fmla="*/ 897505 w 1909596"/>
              <a:gd name="connsiteY8" fmla="*/ 0 h 2996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9596" h="2996269">
                <a:moveTo>
                  <a:pt x="897505" y="0"/>
                </a:moveTo>
                <a:lnTo>
                  <a:pt x="1909596" y="0"/>
                </a:lnTo>
                <a:lnTo>
                  <a:pt x="1909596" y="2996269"/>
                </a:lnTo>
                <a:lnTo>
                  <a:pt x="923643" y="2996269"/>
                </a:lnTo>
                <a:lnTo>
                  <a:pt x="356317" y="2428921"/>
                </a:lnTo>
                <a:cubicBezTo>
                  <a:pt x="103068" y="2175649"/>
                  <a:pt x="0" y="1834129"/>
                  <a:pt x="0" y="1490858"/>
                </a:cubicBezTo>
                <a:lnTo>
                  <a:pt x="0" y="1490105"/>
                </a:lnTo>
                <a:cubicBezTo>
                  <a:pt x="0" y="1142914"/>
                  <a:pt x="90419" y="807174"/>
                  <a:pt x="338907" y="558665"/>
                </a:cubicBezTo>
                <a:lnTo>
                  <a:pt x="897505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2210" cap="flat">
            <a:noFill/>
            <a:prstDash val="solid"/>
            <a:miter/>
          </a:ln>
        </p:spPr>
        <p:txBody>
          <a:bodyPr lIns="68580" tIns="34290" rIns="68580" bIns="34290" rtlCol="0" anchor="ctr"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ТЕХНИЧЕСКИЕ СЛАЙДЫ</a:t>
            </a:r>
          </a:p>
        </p:txBody>
      </p:sp>
      <p:pic>
        <p:nvPicPr>
          <p:cNvPr id="12" name="Picture 2" descr="C:\Users\AABugaev\Downloads\Grou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287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9A6766-EE9C-43B0-9184-56CDB71DC126}"/>
              </a:ext>
            </a:extLst>
          </p:cNvPr>
          <p:cNvSpPr txBox="1"/>
          <p:nvPr/>
        </p:nvSpPr>
        <p:spPr>
          <a:xfrm>
            <a:off x="299471" y="1236367"/>
            <a:ext cx="6702529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PNG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изображения, которые можно использовать для фона в данной презентации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220118-F1F7-42AF-8E40-2A503D419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55" y="2923434"/>
            <a:ext cx="616488" cy="66992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FF1D770-E38A-4C84-BB39-F0FDDEF1A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000" y="2916148"/>
            <a:ext cx="684995" cy="68449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8513561-D388-4604-92CA-208B1879E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8186" y="2931217"/>
            <a:ext cx="567029" cy="65435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DFFE07A-64EB-4E54-8EA0-526782A32EE7}"/>
              </a:ext>
            </a:extLst>
          </p:cNvPr>
          <p:cNvSpPr txBox="1"/>
          <p:nvPr/>
        </p:nvSpPr>
        <p:spPr>
          <a:xfrm>
            <a:off x="346912" y="1573446"/>
            <a:ext cx="7843088" cy="117724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Скопируйте на слайд изображение путем выделения объекта и нажатия клавиш </a:t>
            </a:r>
            <a:r>
              <a:rPr lang="ru-RU" sz="900" dirty="0" err="1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Ctrl+C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(скопировать) и </a:t>
            </a:r>
            <a:r>
              <a:rPr lang="ru-RU" sz="900" dirty="0" err="1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Ctrl+V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(вставить).</a:t>
            </a:r>
          </a:p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Необходимо увеличить размер изображения так, чтобы он совпадал с размером слайда.</a:t>
            </a:r>
          </a:p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При необходимости обрежьте изображение в разделе «Формат изображения» («Работа с рисунком» – актуально для </a:t>
            </a:r>
            <a:r>
              <a:rPr lang="en-US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PowerPoint 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версий до 2010 года) с помощью инструмента «Обрезка».</a:t>
            </a:r>
          </a:p>
          <a:p>
            <a:pPr marL="257175" indent="-257175">
              <a:buAutoNum type="arabicPeriod"/>
            </a:pP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Измените прозрачность картинки в разделе «Формат изображения» с помощью инструмента «Прозрачность», чтобы сделать изображение менее заметным (в версиях </a:t>
            </a:r>
            <a:r>
              <a:rPr lang="en-US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PowerPoint</a:t>
            </a:r>
            <a:r>
              <a:rPr lang="ru-RU" sz="9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 до 2010 года – «Работа с рисунком», далее – инструмент «Художественные эффекты», затем –«Параметры художественных эффектов». Выберите эффект «Фотокопия» и отрегулируйте с помощью ползунков «Прозрачность»). </a:t>
            </a:r>
            <a:endParaRPr lang="ru-RU" sz="900" dirty="0">
              <a:solidFill>
                <a:srgbClr val="0000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98663BE-1312-48DC-B00B-5EF68C0C305E}"/>
              </a:ext>
            </a:extLst>
          </p:cNvPr>
          <p:cNvSpPr txBox="1">
            <a:spLocks/>
          </p:cNvSpPr>
          <p:nvPr/>
        </p:nvSpPr>
        <p:spPr>
          <a:xfrm>
            <a:off x="827584" y="267494"/>
            <a:ext cx="3672000" cy="417451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ТЕХНИЧЕСКИЕ СЛАЙДЫ</a:t>
            </a:r>
          </a:p>
        </p:txBody>
      </p:sp>
      <p:pic>
        <p:nvPicPr>
          <p:cNvPr id="17" name="Picture 2" descr="C:\Users\AABugaev\Downloads\Group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190976"/>
            <a:ext cx="414569" cy="4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3957421" y="2859782"/>
            <a:ext cx="4719035" cy="2016224"/>
          </a:xfrm>
          <a:prstGeom prst="roundRect">
            <a:avLst>
              <a:gd name="adj" fmla="val 54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49" name="Picture 25" descr="C:\Users\AABugaev\Documents\предунивепс\0 1 2 3 4 5 6 7 8 35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48" y="4489770"/>
            <a:ext cx="277145" cy="22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C:\Users\AABugaev\Documents\предунивепс\0 1 2 3 4 5 6 7 8 42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98" y="4458020"/>
            <a:ext cx="272746" cy="27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27" descr="C:\Users\AABugaev\Documents\предунивепс\0 1 2 3 4 5 6 7 8 43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055" y="4458020"/>
            <a:ext cx="268347" cy="27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C:\Users\AABugaev\Documents\предунивепс\0 1 2 3 4 5 6 7 8 43-1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96" y="4454845"/>
            <a:ext cx="343132" cy="27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C:\Users\AABugaev\Documents\предунивепс\0 1 2 3 4 5 6 7 8 44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312" y="4454845"/>
            <a:ext cx="246351" cy="27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C:\Users\AABugaev\Documents\предунивепс\0 1 2 3 4 5 6 7 8 42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98" y="3935413"/>
            <a:ext cx="272746" cy="27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 descr="C:\Users\AABugaev\Documents\предунивепс\0 1 2 3 4 5 6 7 8 43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055" y="3935413"/>
            <a:ext cx="268347" cy="27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C:\Users\AABugaev\Documents\предунивепс\0 1 2 3 4 5 6 7 8 43-1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96" y="3932238"/>
            <a:ext cx="343132" cy="27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 descr="C:\Users\AABugaev\Documents\предунивепс\0 1 2 3 4 5 6 7 8 44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312" y="3932238"/>
            <a:ext cx="246351" cy="27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C:\Users\AABugaev\Documents\предунивепс\0 1 2 3 4 5 6 7 8 35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74" y="3967163"/>
            <a:ext cx="277145" cy="22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3" descr="C:\Users\AABugaev\Downloads\Group 48097046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71" y="339502"/>
            <a:ext cx="1440160" cy="20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73641D-1565-4FDF-9F84-559575931A4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23009" y="3019915"/>
            <a:ext cx="548331" cy="64309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30C443-420B-4A82-96A1-0A394DF8F6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76987" y="3024336"/>
            <a:ext cx="585065" cy="63867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29461A-5139-4548-9EF1-D2FCD480FD5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67699" y="3014408"/>
            <a:ext cx="548331" cy="6422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D080376-B54C-4C2B-90F9-4075FFA1776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18122" y="3818211"/>
            <a:ext cx="554943" cy="65085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04CAAB4-069D-407F-99A9-9B976923A33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72100" y="3808463"/>
            <a:ext cx="592122" cy="64638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29F69C9-3040-4E9F-AA54-DC6002FF577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63257" y="3808463"/>
            <a:ext cx="551842" cy="646382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4DC00A3-7162-4137-8369-34AE64BC4265}"/>
              </a:ext>
            </a:extLst>
          </p:cNvPr>
          <p:cNvPicPr>
            <a:picLocks noChangeAspect="1"/>
          </p:cNvPicPr>
          <p:nvPr/>
        </p:nvPicPr>
        <p:blipFill>
          <a:blip r:embed="rId18">
            <a:biLevel thresh="25000"/>
          </a:blip>
          <a:stretch>
            <a:fillRect/>
          </a:stretch>
        </p:blipFill>
        <p:spPr>
          <a:xfrm>
            <a:off x="6468953" y="3019915"/>
            <a:ext cx="548331" cy="643099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A50A5A70-91FE-4C9F-A4E3-926ADC14FE8B}"/>
              </a:ext>
            </a:extLst>
          </p:cNvPr>
          <p:cNvPicPr>
            <a:picLocks noChangeAspect="1"/>
          </p:cNvPicPr>
          <p:nvPr/>
        </p:nvPicPr>
        <p:blipFill>
          <a:blip r:embed="rId19">
            <a:biLevel thresh="25000"/>
          </a:blip>
          <a:stretch>
            <a:fillRect/>
          </a:stretch>
        </p:blipFill>
        <p:spPr>
          <a:xfrm>
            <a:off x="7222931" y="3024336"/>
            <a:ext cx="585065" cy="638678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779E079A-AB16-45F1-9EA9-C9C650DC9C47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25000"/>
          </a:blip>
          <a:stretch>
            <a:fillRect/>
          </a:stretch>
        </p:blipFill>
        <p:spPr>
          <a:xfrm>
            <a:off x="8013643" y="3014408"/>
            <a:ext cx="548331" cy="64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667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977</Words>
  <Application>Microsoft Office PowerPoint</Application>
  <PresentationFormat>Экран (16:9)</PresentationFormat>
  <Paragraphs>142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Aeroport Bold</vt:lpstr>
      <vt:lpstr>Aeroport Regular</vt:lpstr>
      <vt:lpstr>Arial</vt:lpstr>
      <vt:lpstr>Arial Black</vt:lpstr>
      <vt:lpstr>Arial Unicode MS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А. Бугаев</dc:creator>
  <cp:lastModifiedBy>L Lianilla</cp:lastModifiedBy>
  <cp:revision>32</cp:revision>
  <dcterms:created xsi:type="dcterms:W3CDTF">2024-11-25T06:38:52Z</dcterms:created>
  <dcterms:modified xsi:type="dcterms:W3CDTF">2024-12-10T19:42:35Z</dcterms:modified>
</cp:coreProperties>
</file>